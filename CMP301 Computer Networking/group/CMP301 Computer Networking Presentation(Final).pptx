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Archivo Black" panose="020B0604020202020204" charset="0"/>
      <p:regular r:id="rId28"/>
    </p:embeddedFont>
    <p:embeddedFont>
      <p:font typeface="TT Firs Neue" panose="020B0604020202020204" charset="0"/>
      <p:regular r:id="rId29"/>
    </p:embeddedFont>
    <p:embeddedFont>
      <p:font typeface="TT Firs Neue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BB1F6-5064-415C-BE06-BF92B1625451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2A3AE-0D56-4672-AC1A-808A2A18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1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72A3AE-0D56-4672-AC1A-808A2A18EC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7.svg"/><Relationship Id="rId7" Type="http://schemas.openxmlformats.org/officeDocument/2006/relationships/image" Target="../media/image3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10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svg"/><Relationship Id="rId18" Type="http://schemas.openxmlformats.org/officeDocument/2006/relationships/image" Target="../media/image47.png"/><Relationship Id="rId3" Type="http://schemas.openxmlformats.org/officeDocument/2006/relationships/image" Target="../media/image15.svg"/><Relationship Id="rId21" Type="http://schemas.openxmlformats.org/officeDocument/2006/relationships/image" Target="../media/image50.svg"/><Relationship Id="rId7" Type="http://schemas.openxmlformats.org/officeDocument/2006/relationships/image" Target="../media/image36.svg"/><Relationship Id="rId12" Type="http://schemas.openxmlformats.org/officeDocument/2006/relationships/image" Target="../media/image41.png"/><Relationship Id="rId17" Type="http://schemas.openxmlformats.org/officeDocument/2006/relationships/image" Target="../media/image46.svg"/><Relationship Id="rId2" Type="http://schemas.openxmlformats.org/officeDocument/2006/relationships/image" Target="../media/image14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5" Type="http://schemas.openxmlformats.org/officeDocument/2006/relationships/image" Target="../media/image44.svg"/><Relationship Id="rId10" Type="http://schemas.openxmlformats.org/officeDocument/2006/relationships/image" Target="../media/image39.png"/><Relationship Id="rId19" Type="http://schemas.openxmlformats.org/officeDocument/2006/relationships/image" Target="../media/image48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Relationship Id="rId1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2.svg"/><Relationship Id="rId7" Type="http://schemas.openxmlformats.org/officeDocument/2006/relationships/image" Target="../media/image17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56.svg"/><Relationship Id="rId5" Type="http://schemas.openxmlformats.org/officeDocument/2006/relationships/image" Target="../media/image54.svg"/><Relationship Id="rId10" Type="http://schemas.openxmlformats.org/officeDocument/2006/relationships/image" Target="../media/image55.png"/><Relationship Id="rId4" Type="http://schemas.openxmlformats.org/officeDocument/2006/relationships/image" Target="../media/image53.pn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14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60.svg"/><Relationship Id="rId5" Type="http://schemas.openxmlformats.org/officeDocument/2006/relationships/image" Target="../media/image17.svg"/><Relationship Id="rId15" Type="http://schemas.openxmlformats.org/officeDocument/2006/relationships/image" Target="../media/image64.svg"/><Relationship Id="rId10" Type="http://schemas.openxmlformats.org/officeDocument/2006/relationships/image" Target="../media/image59.png"/><Relationship Id="rId4" Type="http://schemas.openxmlformats.org/officeDocument/2006/relationships/image" Target="../media/image16.png"/><Relationship Id="rId9" Type="http://schemas.openxmlformats.org/officeDocument/2006/relationships/image" Target="../media/image58.svg"/><Relationship Id="rId14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13" Type="http://schemas.openxmlformats.org/officeDocument/2006/relationships/image" Target="../media/image73.png"/><Relationship Id="rId3" Type="http://schemas.openxmlformats.org/officeDocument/2006/relationships/image" Target="../media/image14.png"/><Relationship Id="rId7" Type="http://schemas.openxmlformats.org/officeDocument/2006/relationships/image" Target="../media/image67.png"/><Relationship Id="rId12" Type="http://schemas.openxmlformats.org/officeDocument/2006/relationships/image" Target="../media/image7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71.png"/><Relationship Id="rId5" Type="http://schemas.openxmlformats.org/officeDocument/2006/relationships/image" Target="../media/image16.png"/><Relationship Id="rId15" Type="http://schemas.openxmlformats.org/officeDocument/2006/relationships/image" Target="../media/image75.png"/><Relationship Id="rId10" Type="http://schemas.openxmlformats.org/officeDocument/2006/relationships/image" Target="../media/image70.svg"/><Relationship Id="rId4" Type="http://schemas.openxmlformats.org/officeDocument/2006/relationships/image" Target="../media/image15.svg"/><Relationship Id="rId9" Type="http://schemas.openxmlformats.org/officeDocument/2006/relationships/image" Target="../media/image69.png"/><Relationship Id="rId14" Type="http://schemas.openxmlformats.org/officeDocument/2006/relationships/image" Target="../media/image7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svg"/><Relationship Id="rId3" Type="http://schemas.openxmlformats.org/officeDocument/2006/relationships/image" Target="../media/image15.svg"/><Relationship Id="rId7" Type="http://schemas.openxmlformats.org/officeDocument/2006/relationships/image" Target="../media/image78.svg"/><Relationship Id="rId12" Type="http://schemas.openxmlformats.org/officeDocument/2006/relationships/image" Target="../media/image8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2.svg"/><Relationship Id="rId5" Type="http://schemas.openxmlformats.org/officeDocument/2006/relationships/image" Target="../media/image17.svg"/><Relationship Id="rId15" Type="http://schemas.openxmlformats.org/officeDocument/2006/relationships/image" Target="../media/image86.svg"/><Relationship Id="rId10" Type="http://schemas.openxmlformats.org/officeDocument/2006/relationships/image" Target="../media/image81.png"/><Relationship Id="rId4" Type="http://schemas.openxmlformats.org/officeDocument/2006/relationships/image" Target="../media/image16.png"/><Relationship Id="rId9" Type="http://schemas.openxmlformats.org/officeDocument/2006/relationships/image" Target="../media/image80.svg"/><Relationship Id="rId14" Type="http://schemas.openxmlformats.org/officeDocument/2006/relationships/image" Target="../media/image8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5.svg"/><Relationship Id="rId7" Type="http://schemas.openxmlformats.org/officeDocument/2006/relationships/image" Target="../media/image82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17.svg"/><Relationship Id="rId10" Type="http://schemas.openxmlformats.org/officeDocument/2006/relationships/image" Target="../media/image89.svg"/><Relationship Id="rId4" Type="http://schemas.openxmlformats.org/officeDocument/2006/relationships/image" Target="../media/image16.png"/><Relationship Id="rId9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15.svg"/><Relationship Id="rId7" Type="http://schemas.openxmlformats.org/officeDocument/2006/relationships/image" Target="../media/image91.png"/><Relationship Id="rId12" Type="http://schemas.openxmlformats.org/officeDocument/2006/relationships/image" Target="../media/image96.svg"/><Relationship Id="rId17" Type="http://schemas.openxmlformats.org/officeDocument/2006/relationships/image" Target="../media/image101.png"/><Relationship Id="rId2" Type="http://schemas.openxmlformats.org/officeDocument/2006/relationships/image" Target="../media/image14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17.svg"/><Relationship Id="rId15" Type="http://schemas.openxmlformats.org/officeDocument/2006/relationships/image" Target="../media/image99.svg"/><Relationship Id="rId10" Type="http://schemas.openxmlformats.org/officeDocument/2006/relationships/image" Target="../media/image94.svg"/><Relationship Id="rId4" Type="http://schemas.openxmlformats.org/officeDocument/2006/relationships/image" Target="../media/image16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5.svg"/><Relationship Id="rId7" Type="http://schemas.openxmlformats.org/officeDocument/2006/relationships/image" Target="../media/image36.svg"/><Relationship Id="rId12" Type="http://schemas.openxmlformats.org/officeDocument/2006/relationships/image" Target="../media/image10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5.svg"/><Relationship Id="rId7" Type="http://schemas.openxmlformats.org/officeDocument/2006/relationships/image" Target="../media/image10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108.svg"/><Relationship Id="rId5" Type="http://schemas.openxmlformats.org/officeDocument/2006/relationships/image" Target="../media/image17.svg"/><Relationship Id="rId10" Type="http://schemas.openxmlformats.org/officeDocument/2006/relationships/image" Target="../media/image107.png"/><Relationship Id="rId4" Type="http://schemas.openxmlformats.org/officeDocument/2006/relationships/image" Target="../media/image16.png"/><Relationship Id="rId9" Type="http://schemas.openxmlformats.org/officeDocument/2006/relationships/image" Target="../media/image10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15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92987" y="1218985"/>
            <a:ext cx="1978733" cy="1726894"/>
          </a:xfrm>
          <a:custGeom>
            <a:avLst/>
            <a:gdLst/>
            <a:ahLst/>
            <a:cxnLst/>
            <a:rect l="l" t="t" r="r" b="b"/>
            <a:pathLst>
              <a:path w="1978733" h="1726894">
                <a:moveTo>
                  <a:pt x="0" y="0"/>
                </a:moveTo>
                <a:lnTo>
                  <a:pt x="1978733" y="0"/>
                </a:lnTo>
                <a:lnTo>
                  <a:pt x="1978733" y="1726895"/>
                </a:lnTo>
                <a:lnTo>
                  <a:pt x="0" y="17268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99284" y="1860239"/>
            <a:ext cx="9035514" cy="6934757"/>
          </a:xfrm>
          <a:custGeom>
            <a:avLst/>
            <a:gdLst/>
            <a:ahLst/>
            <a:cxnLst/>
            <a:rect l="l" t="t" r="r" b="b"/>
            <a:pathLst>
              <a:path w="9035514" h="6934757">
                <a:moveTo>
                  <a:pt x="0" y="0"/>
                </a:moveTo>
                <a:lnTo>
                  <a:pt x="9035514" y="0"/>
                </a:lnTo>
                <a:lnTo>
                  <a:pt x="9035514" y="6934757"/>
                </a:lnTo>
                <a:lnTo>
                  <a:pt x="0" y="69347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357071" y="637083"/>
            <a:ext cx="8402906" cy="854266"/>
            <a:chOff x="0" y="0"/>
            <a:chExt cx="2213111" cy="2249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3111" cy="224992"/>
            </a:xfrm>
            <a:custGeom>
              <a:avLst/>
              <a:gdLst/>
              <a:ahLst/>
              <a:cxnLst/>
              <a:rect l="l" t="t" r="r" b="b"/>
              <a:pathLst>
                <a:path w="2213111" h="224992">
                  <a:moveTo>
                    <a:pt x="27640" y="0"/>
                  </a:moveTo>
                  <a:lnTo>
                    <a:pt x="2185471" y="0"/>
                  </a:lnTo>
                  <a:cubicBezTo>
                    <a:pt x="2200736" y="0"/>
                    <a:pt x="2213111" y="12375"/>
                    <a:pt x="2213111" y="27640"/>
                  </a:cubicBezTo>
                  <a:lnTo>
                    <a:pt x="2213111" y="197352"/>
                  </a:lnTo>
                  <a:cubicBezTo>
                    <a:pt x="2213111" y="212617"/>
                    <a:pt x="2200736" y="224992"/>
                    <a:pt x="2185471" y="224992"/>
                  </a:cubicBezTo>
                  <a:lnTo>
                    <a:pt x="27640" y="224992"/>
                  </a:lnTo>
                  <a:cubicBezTo>
                    <a:pt x="12375" y="224992"/>
                    <a:pt x="0" y="212617"/>
                    <a:pt x="0" y="197352"/>
                  </a:cubicBezTo>
                  <a:lnTo>
                    <a:pt x="0" y="27640"/>
                  </a:lnTo>
                  <a:cubicBezTo>
                    <a:pt x="0" y="12375"/>
                    <a:pt x="12375" y="0"/>
                    <a:pt x="27640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213111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599828" y="357177"/>
            <a:ext cx="1318945" cy="1318945"/>
          </a:xfrm>
          <a:custGeom>
            <a:avLst/>
            <a:gdLst/>
            <a:ahLst/>
            <a:cxnLst/>
            <a:rect l="l" t="t" r="r" b="b"/>
            <a:pathLst>
              <a:path w="1318945" h="1318945">
                <a:moveTo>
                  <a:pt x="0" y="0"/>
                </a:moveTo>
                <a:lnTo>
                  <a:pt x="1318944" y="0"/>
                </a:lnTo>
                <a:lnTo>
                  <a:pt x="1318944" y="1318945"/>
                </a:lnTo>
                <a:lnTo>
                  <a:pt x="0" y="1318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628930" y="6137366"/>
            <a:ext cx="2657630" cy="265763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8307" y="7553325"/>
            <a:ext cx="1317385" cy="131738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5392887" y="7982045"/>
            <a:ext cx="764794" cy="513107"/>
          </a:xfrm>
          <a:custGeom>
            <a:avLst/>
            <a:gdLst/>
            <a:ahLst/>
            <a:cxnLst/>
            <a:rect l="l" t="t" r="r" b="b"/>
            <a:pathLst>
              <a:path w="764794" h="513107">
                <a:moveTo>
                  <a:pt x="0" y="0"/>
                </a:moveTo>
                <a:lnTo>
                  <a:pt x="764794" y="0"/>
                </a:lnTo>
                <a:lnTo>
                  <a:pt x="764794" y="513107"/>
                </a:lnTo>
                <a:lnTo>
                  <a:pt x="0" y="5131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07082" y="2854053"/>
            <a:ext cx="9730376" cy="135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400" spc="-24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SSL/TLS Technology and</a:t>
            </a:r>
          </a:p>
          <a:p>
            <a:pPr algn="l">
              <a:lnSpc>
                <a:spcPts val="4400"/>
              </a:lnSpc>
            </a:pPr>
            <a:r>
              <a:rPr lang="en-US" sz="4400" spc="-24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Traffic Analysis Using Wireshark</a:t>
            </a:r>
          </a:p>
          <a:p>
            <a:pPr algn="l">
              <a:lnSpc>
                <a:spcPts val="1900"/>
              </a:lnSpc>
            </a:pPr>
            <a:endParaRPr lang="en-US" sz="4400" spc="-242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82248" y="4872910"/>
            <a:ext cx="8145790" cy="69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1851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Group Presentation — Group Members &amp; Student IDs</a:t>
            </a:r>
          </a:p>
          <a:p>
            <a:pPr algn="l">
              <a:lnSpc>
                <a:spcPts val="3110"/>
              </a:lnSpc>
            </a:pPr>
            <a:endParaRPr lang="en-US" sz="1851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0" y="5535325"/>
            <a:ext cx="219533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7082" y="744544"/>
            <a:ext cx="6474600" cy="111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CMP301 | COMPUTER NETWORKING | COURSEWORK 2</a:t>
            </a:r>
          </a:p>
          <a:p>
            <a:pPr algn="l">
              <a:lnSpc>
                <a:spcPts val="3359"/>
              </a:lnSpc>
            </a:pPr>
            <a:endParaRPr lang="en-US" sz="20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733381" y="338308"/>
            <a:ext cx="2184976" cy="2184976"/>
          </a:xfrm>
          <a:custGeom>
            <a:avLst/>
            <a:gdLst/>
            <a:ahLst/>
            <a:cxnLst/>
            <a:rect l="l" t="t" r="r" b="b"/>
            <a:pathLst>
              <a:path w="2184976" h="2184976">
                <a:moveTo>
                  <a:pt x="0" y="0"/>
                </a:moveTo>
                <a:lnTo>
                  <a:pt x="2184976" y="0"/>
                </a:lnTo>
                <a:lnTo>
                  <a:pt x="2184976" y="2184976"/>
                </a:lnTo>
                <a:lnTo>
                  <a:pt x="0" y="218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2396985" y="3691078"/>
            <a:ext cx="510777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-522804" y="3672028"/>
            <a:ext cx="1317385" cy="131738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4137243"/>
            <a:ext cx="428470" cy="42847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466153" y="7911963"/>
            <a:ext cx="853014" cy="577804"/>
          </a:xfrm>
          <a:custGeom>
            <a:avLst/>
            <a:gdLst/>
            <a:ahLst/>
            <a:cxnLst/>
            <a:rect l="l" t="t" r="r" b="b"/>
            <a:pathLst>
              <a:path w="853014" h="577804">
                <a:moveTo>
                  <a:pt x="0" y="0"/>
                </a:moveTo>
                <a:lnTo>
                  <a:pt x="853014" y="0"/>
                </a:lnTo>
                <a:lnTo>
                  <a:pt x="853014" y="577804"/>
                </a:lnTo>
                <a:lnTo>
                  <a:pt x="0" y="57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535706" y="647335"/>
            <a:ext cx="1566921" cy="1566921"/>
          </a:xfrm>
          <a:custGeom>
            <a:avLst/>
            <a:gdLst/>
            <a:ahLst/>
            <a:cxnLst/>
            <a:rect l="l" t="t" r="r" b="b"/>
            <a:pathLst>
              <a:path w="1566921" h="1566921">
                <a:moveTo>
                  <a:pt x="0" y="0"/>
                </a:moveTo>
                <a:lnTo>
                  <a:pt x="1566921" y="0"/>
                </a:lnTo>
                <a:lnTo>
                  <a:pt x="1566921" y="1566921"/>
                </a:lnTo>
                <a:lnTo>
                  <a:pt x="0" y="1566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96985" y="2637584"/>
            <a:ext cx="5107778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Mission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39263" y="4027153"/>
            <a:ext cx="4504900" cy="83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2446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1. Introduction to SSL/TLS</a:t>
            </a:r>
          </a:p>
          <a:p>
            <a:pPr algn="l">
              <a:lnSpc>
                <a:spcPts val="3425"/>
              </a:lnSpc>
            </a:pPr>
            <a:endParaRPr lang="en-US" sz="2446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57170" y="813220"/>
            <a:ext cx="403819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Presentation Agenda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333512" y="4089618"/>
            <a:ext cx="4504900" cy="83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2446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5. The TLS Handshake</a:t>
            </a:r>
          </a:p>
          <a:p>
            <a:pPr algn="l">
              <a:lnSpc>
                <a:spcPts val="3425"/>
              </a:lnSpc>
            </a:pPr>
            <a:endParaRPr lang="en-US" sz="2446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539263" y="4971837"/>
            <a:ext cx="4504900" cy="83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2446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2. HTTP vs HTTPS</a:t>
            </a:r>
          </a:p>
          <a:p>
            <a:pPr algn="l">
              <a:lnSpc>
                <a:spcPts val="3425"/>
              </a:lnSpc>
            </a:pPr>
            <a:endParaRPr lang="en-US" sz="2446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569907" y="5915991"/>
            <a:ext cx="4474256" cy="834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42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3. Encryption Fundamentals</a:t>
            </a:r>
          </a:p>
          <a:p>
            <a:pPr algn="l">
              <a:lnSpc>
                <a:spcPts val="3401"/>
              </a:lnSpc>
            </a:pPr>
            <a:endParaRPr lang="en-US" sz="242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333512" y="4971837"/>
            <a:ext cx="5046325" cy="83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2446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6. Wireshark Traffic Analysis</a:t>
            </a:r>
          </a:p>
          <a:p>
            <a:pPr algn="l">
              <a:lnSpc>
                <a:spcPts val="3425"/>
              </a:lnSpc>
            </a:pPr>
            <a:endParaRPr lang="en-US" sz="2446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333512" y="5915991"/>
            <a:ext cx="6161022" cy="83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2446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7. Benefits, Challenges &amp; Applications</a:t>
            </a:r>
          </a:p>
          <a:p>
            <a:pPr algn="l">
              <a:lnSpc>
                <a:spcPts val="3425"/>
              </a:lnSpc>
            </a:pPr>
            <a:endParaRPr lang="en-US" sz="2446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569907" y="6949356"/>
            <a:ext cx="4934855" cy="83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2446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4. PKI &amp; Digital Certificates</a:t>
            </a:r>
          </a:p>
          <a:p>
            <a:pPr algn="l">
              <a:lnSpc>
                <a:spcPts val="3425"/>
              </a:lnSpc>
            </a:pPr>
            <a:endParaRPr lang="en-US" sz="2446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333512" y="6949356"/>
            <a:ext cx="4504900" cy="83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2446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8. Conclusion &amp; References</a:t>
            </a:r>
          </a:p>
          <a:p>
            <a:pPr algn="l">
              <a:lnSpc>
                <a:spcPts val="3425"/>
              </a:lnSpc>
            </a:pPr>
            <a:endParaRPr lang="en-US" sz="2446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575232" y="7975138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8" y="0"/>
                </a:lnTo>
                <a:lnTo>
                  <a:pt x="1440978" y="1620732"/>
                </a:lnTo>
                <a:lnTo>
                  <a:pt x="0" y="1620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575232" y="564539"/>
            <a:ext cx="1101217" cy="1488131"/>
          </a:xfrm>
          <a:custGeom>
            <a:avLst/>
            <a:gdLst/>
            <a:ahLst/>
            <a:cxnLst/>
            <a:rect l="l" t="t" r="r" b="b"/>
            <a:pathLst>
              <a:path w="1101217" h="1488131">
                <a:moveTo>
                  <a:pt x="0" y="0"/>
                </a:moveTo>
                <a:lnTo>
                  <a:pt x="1101218" y="0"/>
                </a:lnTo>
                <a:lnTo>
                  <a:pt x="1101218" y="1488131"/>
                </a:lnTo>
                <a:lnTo>
                  <a:pt x="0" y="14881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15741" y="2880044"/>
            <a:ext cx="722834" cy="722834"/>
          </a:xfrm>
          <a:custGeom>
            <a:avLst/>
            <a:gdLst/>
            <a:ahLst/>
            <a:cxnLst/>
            <a:rect l="l" t="t" r="r" b="b"/>
            <a:pathLst>
              <a:path w="722834" h="722834">
                <a:moveTo>
                  <a:pt x="0" y="0"/>
                </a:moveTo>
                <a:lnTo>
                  <a:pt x="722834" y="0"/>
                </a:lnTo>
                <a:lnTo>
                  <a:pt x="722834" y="722834"/>
                </a:lnTo>
                <a:lnTo>
                  <a:pt x="0" y="7228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15741" y="4038470"/>
            <a:ext cx="657292" cy="657292"/>
          </a:xfrm>
          <a:custGeom>
            <a:avLst/>
            <a:gdLst/>
            <a:ahLst/>
            <a:cxnLst/>
            <a:rect l="l" t="t" r="r" b="b"/>
            <a:pathLst>
              <a:path w="657292" h="657292">
                <a:moveTo>
                  <a:pt x="0" y="0"/>
                </a:moveTo>
                <a:lnTo>
                  <a:pt x="657292" y="0"/>
                </a:lnTo>
                <a:lnTo>
                  <a:pt x="657292" y="657292"/>
                </a:lnTo>
                <a:lnTo>
                  <a:pt x="0" y="6572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18495" y="5303124"/>
            <a:ext cx="620079" cy="620079"/>
          </a:xfrm>
          <a:custGeom>
            <a:avLst/>
            <a:gdLst/>
            <a:ahLst/>
            <a:cxnLst/>
            <a:rect l="l" t="t" r="r" b="b"/>
            <a:pathLst>
              <a:path w="620079" h="620079">
                <a:moveTo>
                  <a:pt x="0" y="0"/>
                </a:moveTo>
                <a:lnTo>
                  <a:pt x="620080" y="0"/>
                </a:lnTo>
                <a:lnTo>
                  <a:pt x="620080" y="620080"/>
                </a:lnTo>
                <a:lnTo>
                  <a:pt x="0" y="6200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76116" y="6530566"/>
            <a:ext cx="802084" cy="802084"/>
          </a:xfrm>
          <a:custGeom>
            <a:avLst/>
            <a:gdLst/>
            <a:ahLst/>
            <a:cxnLst/>
            <a:rect l="l" t="t" r="r" b="b"/>
            <a:pathLst>
              <a:path w="802084" h="802084">
                <a:moveTo>
                  <a:pt x="0" y="0"/>
                </a:moveTo>
                <a:lnTo>
                  <a:pt x="802084" y="0"/>
                </a:lnTo>
                <a:lnTo>
                  <a:pt x="802084" y="802084"/>
                </a:lnTo>
                <a:lnTo>
                  <a:pt x="0" y="8020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427572" y="1064216"/>
            <a:ext cx="5628486" cy="3224219"/>
          </a:xfrm>
          <a:custGeom>
            <a:avLst/>
            <a:gdLst/>
            <a:ahLst/>
            <a:cxnLst/>
            <a:rect l="l" t="t" r="r" b="b"/>
            <a:pathLst>
              <a:path w="5628486" h="3224219">
                <a:moveTo>
                  <a:pt x="0" y="0"/>
                </a:moveTo>
                <a:lnTo>
                  <a:pt x="5628485" y="0"/>
                </a:lnTo>
                <a:lnTo>
                  <a:pt x="5628485" y="3224219"/>
                </a:lnTo>
                <a:lnTo>
                  <a:pt x="0" y="3224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2370" b="-2370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427572" y="4218975"/>
            <a:ext cx="5676739" cy="4994350"/>
          </a:xfrm>
          <a:custGeom>
            <a:avLst/>
            <a:gdLst/>
            <a:ahLst/>
            <a:cxnLst/>
            <a:rect l="l" t="t" r="r" b="b"/>
            <a:pathLst>
              <a:path w="5676739" h="4994350">
                <a:moveTo>
                  <a:pt x="0" y="0"/>
                </a:moveTo>
                <a:lnTo>
                  <a:pt x="5676739" y="0"/>
                </a:lnTo>
                <a:lnTo>
                  <a:pt x="5676739" y="4994350"/>
                </a:lnTo>
                <a:lnTo>
                  <a:pt x="0" y="49943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587197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 to SSL/TLS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801432" y="3222411"/>
            <a:ext cx="6173725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Secure Sockets Layer—the original protocol (Netscape, 1995) for encrypting data sent between a client and a server over the internet.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822175" y="2823337"/>
            <a:ext cx="3553060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What is SSL?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57170" y="813220"/>
            <a:ext cx="403819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1 · INTRODUCTION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801432" y="3981853"/>
            <a:ext cx="3553060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What is TLS?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801432" y="4348066"/>
            <a:ext cx="6173725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Transport Layer Security — the modern, standardized successor to SSL, defined by the IETF, offering stronger cryptography.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822175" y="5174116"/>
            <a:ext cx="3553060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Why TLS replaced SSL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801432" y="5564837"/>
            <a:ext cx="6022234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SSL had known design flaws (e.g. POODLE) and weak cipher support; TLS fixed these and is actively maintained.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822175" y="6390954"/>
            <a:ext cx="4922545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Why secure communication matters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866807" y="6924354"/>
            <a:ext cx="6042977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Protects confidentiality, integrity, and authenticity of data such as passwords, banking details, and personal information in transit.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>
            <a:off x="2505811" y="5143500"/>
            <a:ext cx="131812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2159615" y="4846522"/>
            <a:ext cx="593956" cy="59395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418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2167" y="4846522"/>
            <a:ext cx="593956" cy="59395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418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88934" y="4846522"/>
            <a:ext cx="593956" cy="59395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4184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414459" y="4846522"/>
            <a:ext cx="593956" cy="59395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4184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514853" y="4926143"/>
            <a:ext cx="593956" cy="59395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4184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231057" y="4825041"/>
            <a:ext cx="593956" cy="593956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4184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7892133" y="471264"/>
            <a:ext cx="2338485" cy="2139714"/>
          </a:xfrm>
          <a:custGeom>
            <a:avLst/>
            <a:gdLst/>
            <a:ahLst/>
            <a:cxnLst/>
            <a:rect l="l" t="t" r="r" b="b"/>
            <a:pathLst>
              <a:path w="2338485" h="2139714">
                <a:moveTo>
                  <a:pt x="0" y="0"/>
                </a:moveTo>
                <a:lnTo>
                  <a:pt x="2338486" y="0"/>
                </a:lnTo>
                <a:lnTo>
                  <a:pt x="2338486" y="2139714"/>
                </a:lnTo>
                <a:lnTo>
                  <a:pt x="0" y="2139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028700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History of SSL &amp; TLS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457170" y="813220"/>
            <a:ext cx="403819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1 · INTRODUCTION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914442" y="3746710"/>
            <a:ext cx="1182737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1995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SSL 2.0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81914" y="5554778"/>
            <a:ext cx="2194351" cy="11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First public release; multiple security weaknesses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312624" y="5535728"/>
            <a:ext cx="1184225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1996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SSL 3.0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054114" y="3526155"/>
            <a:ext cx="2194351" cy="146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Redesigned; later broken by the POODLE attack (2014)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696172" y="3746710"/>
            <a:ext cx="1094333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1999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TSL 1.0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27393" y="5491081"/>
            <a:ext cx="2194351" cy="11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IETF standard (RFC 2246); SSL 3.0 upgrade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9343380" y="5535728"/>
            <a:ext cx="98152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2006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TSL 1.1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39934" y="3585210"/>
            <a:ext cx="2194351" cy="173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Added protection against CBC attacks,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Introduced explicit Initialization Vectors (IVs)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2283715" y="3640455"/>
            <a:ext cx="1056233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2008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TSL 1.2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011633" y="5491524"/>
            <a:ext cx="2194351" cy="11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Widely deployed; supports SHA-256, AEAD ciphers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5070600" y="5472031"/>
            <a:ext cx="105772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2018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TSL 1.3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717495" y="3532573"/>
            <a:ext cx="2194351" cy="11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RFC 8446: faster handshake, removes legacy ciphers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457170" y="7315291"/>
            <a:ext cx="16830830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Industry adoption: </a:t>
            </a: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TLS 1.2 remains widely supported; TLS 1.3 is now the recommended standard across major browsers, CDNs and servers, with SSL 2.0/3.0 and TLS 1.0/1.1 formally deprecated.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5600" y="2872554"/>
            <a:ext cx="8359729" cy="5517421"/>
            <a:chOff x="0" y="0"/>
            <a:chExt cx="635000" cy="419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18088" y="0"/>
                  </a:moveTo>
                  <a:lnTo>
                    <a:pt x="616912" y="0"/>
                  </a:lnTo>
                  <a:cubicBezTo>
                    <a:pt x="626902" y="0"/>
                    <a:pt x="635000" y="8098"/>
                    <a:pt x="635000" y="18088"/>
                  </a:cubicBezTo>
                  <a:lnTo>
                    <a:pt x="635000" y="401012"/>
                  </a:lnTo>
                  <a:cubicBezTo>
                    <a:pt x="635000" y="411002"/>
                    <a:pt x="626902" y="419100"/>
                    <a:pt x="616912" y="419100"/>
                  </a:cubicBezTo>
                  <a:lnTo>
                    <a:pt x="18088" y="419100"/>
                  </a:lnTo>
                  <a:cubicBezTo>
                    <a:pt x="8098" y="419100"/>
                    <a:pt x="0" y="411002"/>
                    <a:pt x="0" y="401012"/>
                  </a:cubicBezTo>
                  <a:lnTo>
                    <a:pt x="0" y="18088"/>
                  </a:lnTo>
                  <a:cubicBezTo>
                    <a:pt x="0" y="8098"/>
                    <a:pt x="8098" y="0"/>
                    <a:pt x="1808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57170" y="3241461"/>
            <a:ext cx="930337" cy="818697"/>
          </a:xfrm>
          <a:custGeom>
            <a:avLst/>
            <a:gdLst/>
            <a:ahLst/>
            <a:cxnLst/>
            <a:rect l="l" t="t" r="r" b="b"/>
            <a:pathLst>
              <a:path w="930337" h="818697">
                <a:moveTo>
                  <a:pt x="0" y="0"/>
                </a:moveTo>
                <a:lnTo>
                  <a:pt x="930337" y="0"/>
                </a:lnTo>
                <a:lnTo>
                  <a:pt x="930337" y="818696"/>
                </a:lnTo>
                <a:lnTo>
                  <a:pt x="0" y="818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399201" y="458608"/>
            <a:ext cx="1873334" cy="1873334"/>
          </a:xfrm>
          <a:custGeom>
            <a:avLst/>
            <a:gdLst/>
            <a:ahLst/>
            <a:cxnLst/>
            <a:rect l="l" t="t" r="r" b="b"/>
            <a:pathLst>
              <a:path w="1873334" h="1873334">
                <a:moveTo>
                  <a:pt x="0" y="0"/>
                </a:moveTo>
                <a:lnTo>
                  <a:pt x="1873334" y="0"/>
                </a:lnTo>
                <a:lnTo>
                  <a:pt x="1873334" y="1873333"/>
                </a:lnTo>
                <a:lnTo>
                  <a:pt x="0" y="18733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335440" y="8464660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8" y="0"/>
                </a:lnTo>
                <a:lnTo>
                  <a:pt x="144097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144000" y="2918294"/>
            <a:ext cx="8359729" cy="5517421"/>
            <a:chOff x="0" y="0"/>
            <a:chExt cx="635000" cy="419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18088" y="0"/>
                  </a:moveTo>
                  <a:lnTo>
                    <a:pt x="616912" y="0"/>
                  </a:lnTo>
                  <a:cubicBezTo>
                    <a:pt x="626902" y="0"/>
                    <a:pt x="635000" y="8098"/>
                    <a:pt x="635000" y="18088"/>
                  </a:cubicBezTo>
                  <a:lnTo>
                    <a:pt x="635000" y="401012"/>
                  </a:lnTo>
                  <a:cubicBezTo>
                    <a:pt x="635000" y="411002"/>
                    <a:pt x="626902" y="419100"/>
                    <a:pt x="616912" y="419100"/>
                  </a:cubicBezTo>
                  <a:lnTo>
                    <a:pt x="18088" y="419100"/>
                  </a:lnTo>
                  <a:cubicBezTo>
                    <a:pt x="8098" y="419100"/>
                    <a:pt x="0" y="411002"/>
                    <a:pt x="0" y="401012"/>
                  </a:cubicBezTo>
                  <a:lnTo>
                    <a:pt x="0" y="18088"/>
                  </a:lnTo>
                  <a:cubicBezTo>
                    <a:pt x="0" y="8098"/>
                    <a:pt x="8098" y="0"/>
                    <a:pt x="18088" y="0"/>
                  </a:cubicBezTo>
                  <a:close/>
                </a:path>
              </a:pathLst>
            </a:custGeom>
            <a:solidFill>
              <a:srgbClr val="21418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9447701" y="3075379"/>
            <a:ext cx="1099960" cy="1099960"/>
          </a:xfrm>
          <a:custGeom>
            <a:avLst/>
            <a:gdLst/>
            <a:ahLst/>
            <a:cxnLst/>
            <a:rect l="l" t="t" r="r" b="b"/>
            <a:pathLst>
              <a:path w="1099960" h="1099960">
                <a:moveTo>
                  <a:pt x="0" y="0"/>
                </a:moveTo>
                <a:lnTo>
                  <a:pt x="1099960" y="0"/>
                </a:lnTo>
                <a:lnTo>
                  <a:pt x="1099960" y="1099961"/>
                </a:lnTo>
                <a:lnTo>
                  <a:pt x="0" y="1099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28700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HTTP vs HTTPS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57170" y="813220"/>
            <a:ext cx="403819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1 · INTRODUCTION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527779" y="3317661"/>
            <a:ext cx="1896974" cy="92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HTTP</a:t>
            </a:r>
          </a:p>
          <a:p>
            <a:pPr algn="ctr">
              <a:lnSpc>
                <a:spcPts val="2270"/>
              </a:lnSpc>
              <a:spcBef>
                <a:spcPct val="0"/>
              </a:spcBef>
            </a:pPr>
            <a:endParaRPr lang="en-US" sz="3594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57660" y="4322748"/>
            <a:ext cx="6750126" cy="333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Hyper Text Transfer Protocol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Uses Port 80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Data sent in plaintext — readable if intercepted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No padlock icon shown in the browser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Flagged as “Not Secure” by modern browsers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690536" y="3446019"/>
            <a:ext cx="1896974" cy="92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HTTPS</a:t>
            </a:r>
          </a:p>
          <a:p>
            <a:pPr algn="ctr">
              <a:lnSpc>
                <a:spcPts val="2270"/>
              </a:lnSpc>
              <a:spcBef>
                <a:spcPct val="0"/>
              </a:spcBef>
            </a:pPr>
            <a:endParaRPr lang="en-US" sz="3594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447701" y="4356315"/>
            <a:ext cx="6750126" cy="333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HTTP Secure — HTTP layered over SSL/TLS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Uses Port 443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Data is encrypted in transit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Padlock icon shown next to the address bar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Favoured by Google—boosts SEO ranking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16072" y="1363611"/>
            <a:ext cx="7224512" cy="854266"/>
            <a:chOff x="0" y="0"/>
            <a:chExt cx="1902752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2752" cy="224992"/>
            </a:xfrm>
            <a:custGeom>
              <a:avLst/>
              <a:gdLst/>
              <a:ahLst/>
              <a:cxnLst/>
              <a:rect l="l" t="t" r="r" b="b"/>
              <a:pathLst>
                <a:path w="1902752" h="224992">
                  <a:moveTo>
                    <a:pt x="32149" y="0"/>
                  </a:moveTo>
                  <a:lnTo>
                    <a:pt x="1870603" y="0"/>
                  </a:lnTo>
                  <a:cubicBezTo>
                    <a:pt x="1879130" y="0"/>
                    <a:pt x="1887307" y="3387"/>
                    <a:pt x="1893336" y="9416"/>
                  </a:cubicBezTo>
                  <a:cubicBezTo>
                    <a:pt x="1899365" y="15445"/>
                    <a:pt x="1902752" y="23622"/>
                    <a:pt x="1902752" y="32149"/>
                  </a:cubicBezTo>
                  <a:lnTo>
                    <a:pt x="1902752" y="192843"/>
                  </a:lnTo>
                  <a:cubicBezTo>
                    <a:pt x="1902752" y="201370"/>
                    <a:pt x="1899365" y="209547"/>
                    <a:pt x="1893336" y="215576"/>
                  </a:cubicBezTo>
                  <a:cubicBezTo>
                    <a:pt x="1887307" y="221605"/>
                    <a:pt x="1879130" y="224992"/>
                    <a:pt x="1870603" y="224992"/>
                  </a:cubicBezTo>
                  <a:lnTo>
                    <a:pt x="32149" y="224992"/>
                  </a:lnTo>
                  <a:cubicBezTo>
                    <a:pt x="23622" y="224992"/>
                    <a:pt x="15445" y="221605"/>
                    <a:pt x="9416" y="215576"/>
                  </a:cubicBezTo>
                  <a:cubicBezTo>
                    <a:pt x="3387" y="209547"/>
                    <a:pt x="0" y="201370"/>
                    <a:pt x="0" y="192843"/>
                  </a:cubicBezTo>
                  <a:lnTo>
                    <a:pt x="0" y="32149"/>
                  </a:lnTo>
                  <a:cubicBezTo>
                    <a:pt x="0" y="23622"/>
                    <a:pt x="3387" y="15445"/>
                    <a:pt x="9416" y="9416"/>
                  </a:cubicBezTo>
                  <a:cubicBezTo>
                    <a:pt x="15445" y="3387"/>
                    <a:pt x="23622" y="0"/>
                    <a:pt x="32149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02752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82305" y="-139783"/>
            <a:ext cx="1317385" cy="131738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9199" y="325432"/>
            <a:ext cx="428470" cy="42847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7259300" y="2436846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7" y="0"/>
                </a:lnTo>
                <a:lnTo>
                  <a:pt x="1440977" y="1620732"/>
                </a:lnTo>
                <a:lnTo>
                  <a:pt x="0" y="1620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35079" y="3981997"/>
            <a:ext cx="3434099" cy="3399758"/>
          </a:xfrm>
          <a:custGeom>
            <a:avLst/>
            <a:gdLst/>
            <a:ahLst/>
            <a:cxnLst/>
            <a:rect l="l" t="t" r="r" b="b"/>
            <a:pathLst>
              <a:path w="3434099" h="3399758">
                <a:moveTo>
                  <a:pt x="0" y="0"/>
                </a:moveTo>
                <a:lnTo>
                  <a:pt x="3434099" y="0"/>
                </a:lnTo>
                <a:lnTo>
                  <a:pt x="3434099" y="3399757"/>
                </a:lnTo>
                <a:lnTo>
                  <a:pt x="0" y="3399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633610" y="4057578"/>
            <a:ext cx="3283919" cy="3251079"/>
          </a:xfrm>
          <a:custGeom>
            <a:avLst/>
            <a:gdLst/>
            <a:ahLst/>
            <a:cxnLst/>
            <a:rect l="l" t="t" r="r" b="b"/>
            <a:pathLst>
              <a:path w="3283919" h="3251079">
                <a:moveTo>
                  <a:pt x="0" y="0"/>
                </a:moveTo>
                <a:lnTo>
                  <a:pt x="3283919" y="0"/>
                </a:lnTo>
                <a:lnTo>
                  <a:pt x="3283919" y="3251079"/>
                </a:lnTo>
                <a:lnTo>
                  <a:pt x="0" y="32510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984329" y="4151900"/>
            <a:ext cx="3090860" cy="3059952"/>
          </a:xfrm>
          <a:custGeom>
            <a:avLst/>
            <a:gdLst/>
            <a:ahLst/>
            <a:cxnLst/>
            <a:rect l="l" t="t" r="r" b="b"/>
            <a:pathLst>
              <a:path w="3090860" h="3059952">
                <a:moveTo>
                  <a:pt x="0" y="0"/>
                </a:moveTo>
                <a:lnTo>
                  <a:pt x="3090860" y="0"/>
                </a:lnTo>
                <a:lnTo>
                  <a:pt x="3090860" y="3059951"/>
                </a:lnTo>
                <a:lnTo>
                  <a:pt x="0" y="3059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016604" y="4151900"/>
            <a:ext cx="3242696" cy="3210269"/>
          </a:xfrm>
          <a:custGeom>
            <a:avLst/>
            <a:gdLst/>
            <a:ahLst/>
            <a:cxnLst/>
            <a:rect l="l" t="t" r="r" b="b"/>
            <a:pathLst>
              <a:path w="3242696" h="3210269">
                <a:moveTo>
                  <a:pt x="0" y="0"/>
                </a:moveTo>
                <a:lnTo>
                  <a:pt x="3242696" y="0"/>
                </a:lnTo>
                <a:lnTo>
                  <a:pt x="3242696" y="3210269"/>
                </a:lnTo>
                <a:lnTo>
                  <a:pt x="0" y="32102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906922" y="633766"/>
            <a:ext cx="2777312" cy="2124644"/>
          </a:xfrm>
          <a:custGeom>
            <a:avLst/>
            <a:gdLst/>
            <a:ahLst/>
            <a:cxnLst/>
            <a:rect l="l" t="t" r="r" b="b"/>
            <a:pathLst>
              <a:path w="2777312" h="2124644">
                <a:moveTo>
                  <a:pt x="0" y="0"/>
                </a:moveTo>
                <a:lnTo>
                  <a:pt x="2777312" y="0"/>
                </a:lnTo>
                <a:lnTo>
                  <a:pt x="2777312" y="2124644"/>
                </a:lnTo>
                <a:lnTo>
                  <a:pt x="0" y="21246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558336" y="4195816"/>
            <a:ext cx="694025" cy="694025"/>
          </a:xfrm>
          <a:custGeom>
            <a:avLst/>
            <a:gdLst/>
            <a:ahLst/>
            <a:cxnLst/>
            <a:rect l="l" t="t" r="r" b="b"/>
            <a:pathLst>
              <a:path w="694025" h="694025">
                <a:moveTo>
                  <a:pt x="0" y="0"/>
                </a:moveTo>
                <a:lnTo>
                  <a:pt x="694024" y="0"/>
                </a:lnTo>
                <a:lnTo>
                  <a:pt x="694024" y="694025"/>
                </a:lnTo>
                <a:lnTo>
                  <a:pt x="0" y="694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7039606" y="4284163"/>
            <a:ext cx="471928" cy="633460"/>
          </a:xfrm>
          <a:custGeom>
            <a:avLst/>
            <a:gdLst/>
            <a:ahLst/>
            <a:cxnLst/>
            <a:rect l="l" t="t" r="r" b="b"/>
            <a:pathLst>
              <a:path w="471928" h="633460">
                <a:moveTo>
                  <a:pt x="0" y="0"/>
                </a:moveTo>
                <a:lnTo>
                  <a:pt x="471928" y="0"/>
                </a:lnTo>
                <a:lnTo>
                  <a:pt x="471928" y="633460"/>
                </a:lnTo>
                <a:lnTo>
                  <a:pt x="0" y="6334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243830" y="4328079"/>
            <a:ext cx="571857" cy="589544"/>
          </a:xfrm>
          <a:custGeom>
            <a:avLst/>
            <a:gdLst/>
            <a:ahLst/>
            <a:cxnLst/>
            <a:rect l="l" t="t" r="r" b="b"/>
            <a:pathLst>
              <a:path w="571857" h="589544">
                <a:moveTo>
                  <a:pt x="0" y="0"/>
                </a:moveTo>
                <a:lnTo>
                  <a:pt x="571858" y="0"/>
                </a:lnTo>
                <a:lnTo>
                  <a:pt x="571858" y="589544"/>
                </a:lnTo>
                <a:lnTo>
                  <a:pt x="0" y="5895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5399289" y="4334310"/>
            <a:ext cx="424155" cy="577082"/>
          </a:xfrm>
          <a:custGeom>
            <a:avLst/>
            <a:gdLst/>
            <a:ahLst/>
            <a:cxnLst/>
            <a:rect l="l" t="t" r="r" b="b"/>
            <a:pathLst>
              <a:path w="424155" h="577082">
                <a:moveTo>
                  <a:pt x="0" y="0"/>
                </a:moveTo>
                <a:lnTo>
                  <a:pt x="424155" y="0"/>
                </a:lnTo>
                <a:lnTo>
                  <a:pt x="424155" y="577082"/>
                </a:lnTo>
                <a:lnTo>
                  <a:pt x="0" y="57708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28700" y="2379802"/>
            <a:ext cx="8316524" cy="1348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5100" spc="-280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Encryption Concepts</a:t>
            </a:r>
          </a:p>
          <a:p>
            <a:pPr algn="l">
              <a:lnSpc>
                <a:spcPts val="5100"/>
              </a:lnSpc>
            </a:pPr>
            <a:endParaRPr lang="en-US" sz="5100" spc="-280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63206" y="1553704"/>
            <a:ext cx="489810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2 · SSL/TLS CONCEPTS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196454" y="4932169"/>
            <a:ext cx="1613546" cy="855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Plaintext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711307" y="5444667"/>
            <a:ext cx="2569753" cy="146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original, readable data before any encryption is applied—e.g., a login form submission</a:t>
            </a:r>
            <a:r>
              <a:rPr lang="en-US" sz="15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340869" y="4932169"/>
            <a:ext cx="1964931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Encryption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61306" y="5444667"/>
            <a:ext cx="2569753" cy="146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process of transforming plaintext into unreadable ciphertext using an algorithm and a key.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699893" y="4962649"/>
            <a:ext cx="1873107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Ciphertext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99357" y="5444667"/>
            <a:ext cx="2569753" cy="146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scrambled, unreadable output of encryption — meaningless without the correct decryption key.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786730" y="4962649"/>
            <a:ext cx="1901070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Decryption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89547" y="5444667"/>
            <a:ext cx="2569753" cy="146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EFFFF"/>
                </a:solidFill>
                <a:latin typeface="TT Firs Neue"/>
                <a:ea typeface="TT Firs Neue"/>
                <a:cs typeface="TT Firs Neue"/>
                <a:sym typeface="TT Firs Neue"/>
              </a:rPr>
              <a:t>The reverse process: converting ciphertext back into plaintext using the correct key.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>
              <a:solidFill>
                <a:srgbClr val="FE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730925" y="7667504"/>
            <a:ext cx="12243499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Flow: Plaintext → Encryption → Ciphertext → Decryption → Plaintext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2369" y="2530099"/>
            <a:ext cx="8165169" cy="4656496"/>
            <a:chOff x="0" y="0"/>
            <a:chExt cx="635000" cy="3621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" cy="362133"/>
            </a:xfrm>
            <a:custGeom>
              <a:avLst/>
              <a:gdLst/>
              <a:ahLst/>
              <a:cxnLst/>
              <a:rect l="l" t="t" r="r" b="b"/>
              <a:pathLst>
                <a:path w="635000" h="362133">
                  <a:moveTo>
                    <a:pt x="18519" y="0"/>
                  </a:moveTo>
                  <a:lnTo>
                    <a:pt x="616481" y="0"/>
                  </a:lnTo>
                  <a:cubicBezTo>
                    <a:pt x="621393" y="0"/>
                    <a:pt x="626103" y="1951"/>
                    <a:pt x="629576" y="5424"/>
                  </a:cubicBezTo>
                  <a:cubicBezTo>
                    <a:pt x="633049" y="8897"/>
                    <a:pt x="635000" y="13607"/>
                    <a:pt x="635000" y="18519"/>
                  </a:cubicBezTo>
                  <a:lnTo>
                    <a:pt x="635000" y="343614"/>
                  </a:lnTo>
                  <a:cubicBezTo>
                    <a:pt x="635000" y="348525"/>
                    <a:pt x="633049" y="353236"/>
                    <a:pt x="629576" y="356709"/>
                  </a:cubicBezTo>
                  <a:cubicBezTo>
                    <a:pt x="626103" y="360182"/>
                    <a:pt x="621393" y="362133"/>
                    <a:pt x="616481" y="362133"/>
                  </a:cubicBezTo>
                  <a:lnTo>
                    <a:pt x="18519" y="362133"/>
                  </a:lnTo>
                  <a:cubicBezTo>
                    <a:pt x="13607" y="362133"/>
                    <a:pt x="8897" y="360182"/>
                    <a:pt x="5424" y="356709"/>
                  </a:cubicBezTo>
                  <a:cubicBezTo>
                    <a:pt x="1951" y="353236"/>
                    <a:pt x="0" y="348525"/>
                    <a:pt x="0" y="343614"/>
                  </a:cubicBezTo>
                  <a:lnTo>
                    <a:pt x="0" y="18519"/>
                  </a:lnTo>
                  <a:cubicBezTo>
                    <a:pt x="0" y="13607"/>
                    <a:pt x="1951" y="8897"/>
                    <a:pt x="5424" y="5424"/>
                  </a:cubicBezTo>
                  <a:cubicBezTo>
                    <a:pt x="8897" y="1951"/>
                    <a:pt x="13607" y="0"/>
                    <a:pt x="1851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35000" cy="409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16689" y="2530099"/>
            <a:ext cx="8359729" cy="4656496"/>
            <a:chOff x="0" y="0"/>
            <a:chExt cx="635000" cy="3537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" cy="353705"/>
            </a:xfrm>
            <a:custGeom>
              <a:avLst/>
              <a:gdLst/>
              <a:ahLst/>
              <a:cxnLst/>
              <a:rect l="l" t="t" r="r" b="b"/>
              <a:pathLst>
                <a:path w="635000" h="353705">
                  <a:moveTo>
                    <a:pt x="18088" y="0"/>
                  </a:moveTo>
                  <a:lnTo>
                    <a:pt x="616912" y="0"/>
                  </a:lnTo>
                  <a:cubicBezTo>
                    <a:pt x="626902" y="0"/>
                    <a:pt x="635000" y="8098"/>
                    <a:pt x="635000" y="18088"/>
                  </a:cubicBezTo>
                  <a:lnTo>
                    <a:pt x="635000" y="335617"/>
                  </a:lnTo>
                  <a:cubicBezTo>
                    <a:pt x="635000" y="345606"/>
                    <a:pt x="626902" y="353705"/>
                    <a:pt x="616912" y="353705"/>
                  </a:cubicBezTo>
                  <a:lnTo>
                    <a:pt x="18088" y="353705"/>
                  </a:lnTo>
                  <a:cubicBezTo>
                    <a:pt x="8098" y="353705"/>
                    <a:pt x="0" y="345606"/>
                    <a:pt x="0" y="335617"/>
                  </a:cubicBezTo>
                  <a:lnTo>
                    <a:pt x="0" y="18088"/>
                  </a:lnTo>
                  <a:cubicBezTo>
                    <a:pt x="0" y="8098"/>
                    <a:pt x="8098" y="0"/>
                    <a:pt x="18088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635000" cy="401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457170" y="2830783"/>
            <a:ext cx="829268" cy="942350"/>
          </a:xfrm>
          <a:custGeom>
            <a:avLst/>
            <a:gdLst/>
            <a:ahLst/>
            <a:cxnLst/>
            <a:rect l="l" t="t" r="r" b="b"/>
            <a:pathLst>
              <a:path w="829268" h="942350">
                <a:moveTo>
                  <a:pt x="0" y="0"/>
                </a:moveTo>
                <a:lnTo>
                  <a:pt x="829268" y="0"/>
                </a:lnTo>
                <a:lnTo>
                  <a:pt x="829268" y="942350"/>
                </a:lnTo>
                <a:lnTo>
                  <a:pt x="0" y="942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950214" y="2936950"/>
            <a:ext cx="730017" cy="730017"/>
          </a:xfrm>
          <a:custGeom>
            <a:avLst/>
            <a:gdLst/>
            <a:ahLst/>
            <a:cxnLst/>
            <a:rect l="l" t="t" r="r" b="b"/>
            <a:pathLst>
              <a:path w="730017" h="730017">
                <a:moveTo>
                  <a:pt x="0" y="0"/>
                </a:moveTo>
                <a:lnTo>
                  <a:pt x="730017" y="0"/>
                </a:lnTo>
                <a:lnTo>
                  <a:pt x="730017" y="730017"/>
                </a:lnTo>
                <a:lnTo>
                  <a:pt x="0" y="730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652369" y="7588931"/>
            <a:ext cx="17124049" cy="1519599"/>
            <a:chOff x="0" y="0"/>
            <a:chExt cx="3523467" cy="3126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23467" cy="312675"/>
            </a:xfrm>
            <a:custGeom>
              <a:avLst/>
              <a:gdLst/>
              <a:ahLst/>
              <a:cxnLst/>
              <a:rect l="l" t="t" r="r" b="b"/>
              <a:pathLst>
                <a:path w="3523467" h="312675">
                  <a:moveTo>
                    <a:pt x="8830" y="0"/>
                  </a:moveTo>
                  <a:lnTo>
                    <a:pt x="3514637" y="0"/>
                  </a:lnTo>
                  <a:cubicBezTo>
                    <a:pt x="3519513" y="0"/>
                    <a:pt x="3523467" y="3953"/>
                    <a:pt x="3523467" y="8830"/>
                  </a:cubicBezTo>
                  <a:lnTo>
                    <a:pt x="3523467" y="303844"/>
                  </a:lnTo>
                  <a:cubicBezTo>
                    <a:pt x="3523467" y="306186"/>
                    <a:pt x="3522537" y="308432"/>
                    <a:pt x="3520880" y="310088"/>
                  </a:cubicBezTo>
                  <a:cubicBezTo>
                    <a:pt x="3519224" y="311744"/>
                    <a:pt x="3516978" y="312675"/>
                    <a:pt x="3514637" y="312675"/>
                  </a:cubicBezTo>
                  <a:lnTo>
                    <a:pt x="8830" y="312675"/>
                  </a:lnTo>
                  <a:cubicBezTo>
                    <a:pt x="6488" y="312675"/>
                    <a:pt x="4242" y="311744"/>
                    <a:pt x="2586" y="310088"/>
                  </a:cubicBezTo>
                  <a:cubicBezTo>
                    <a:pt x="930" y="308432"/>
                    <a:pt x="0" y="306186"/>
                    <a:pt x="0" y="303844"/>
                  </a:cubicBezTo>
                  <a:lnTo>
                    <a:pt x="0" y="8830"/>
                  </a:lnTo>
                  <a:cubicBezTo>
                    <a:pt x="0" y="6488"/>
                    <a:pt x="930" y="4242"/>
                    <a:pt x="2586" y="2586"/>
                  </a:cubicBezTo>
                  <a:cubicBezTo>
                    <a:pt x="4242" y="930"/>
                    <a:pt x="6488" y="0"/>
                    <a:pt x="8830" y="0"/>
                  </a:cubicBezTo>
                  <a:close/>
                </a:path>
              </a:pathLst>
            </a:custGeom>
            <a:solidFill>
              <a:srgbClr val="61C2A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3523467" cy="36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335440" y="8464660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8" y="0"/>
                </a:lnTo>
                <a:lnTo>
                  <a:pt x="144097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457170" y="7934944"/>
            <a:ext cx="889864" cy="827573"/>
          </a:xfrm>
          <a:custGeom>
            <a:avLst/>
            <a:gdLst/>
            <a:ahLst/>
            <a:cxnLst/>
            <a:rect l="l" t="t" r="r" b="b"/>
            <a:pathLst>
              <a:path w="889864" h="827573">
                <a:moveTo>
                  <a:pt x="0" y="0"/>
                </a:moveTo>
                <a:lnTo>
                  <a:pt x="889864" y="0"/>
                </a:lnTo>
                <a:lnTo>
                  <a:pt x="889864" y="827573"/>
                </a:lnTo>
                <a:lnTo>
                  <a:pt x="0" y="8275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724655" y="1768260"/>
            <a:ext cx="8905063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Public Key &amp; Private Key Encryption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24655" y="813220"/>
            <a:ext cx="504141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2 · SSL/TLS CONCEPTS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532767" y="2764108"/>
            <a:ext cx="5288838" cy="92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Symmetric Encryption</a:t>
            </a:r>
          </a:p>
          <a:p>
            <a:pPr algn="ctr">
              <a:lnSpc>
                <a:spcPts val="2270"/>
              </a:lnSpc>
              <a:spcBef>
                <a:spcPct val="0"/>
              </a:spcBef>
            </a:pPr>
            <a:endParaRPr lang="en-US" sz="3594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57170" y="3717037"/>
            <a:ext cx="6750126" cy="292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One shared secret key encrypts and decrypts data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Fast — used for bulk data once the connection is secure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Challenge: securely sharing the key in the first place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813157" y="2870275"/>
            <a:ext cx="5566793" cy="924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Asymmetric Encryption</a:t>
            </a:r>
          </a:p>
          <a:p>
            <a:pPr algn="ctr">
              <a:lnSpc>
                <a:spcPts val="2270"/>
              </a:lnSpc>
              <a:spcBef>
                <a:spcPct val="0"/>
              </a:spcBef>
            </a:pPr>
            <a:endParaRPr lang="en-US" sz="3594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210257" y="3747004"/>
            <a:ext cx="6399651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Uses a mathematically linked key pair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Public Key: shared openly, used to encrypt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Private Key: kept secret, used to decrypt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286438" y="8053370"/>
            <a:ext cx="15119966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Session Key: </a:t>
            </a:r>
            <a:r>
              <a:rPr lang="en-US" sz="17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TLS uses asymmetric encryption only during the handshake to safely agree on a temporary symmetric session key, which then encrypts the actual application data combining security with speed.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endParaRPr lang="en-US" sz="1799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575232" y="7975138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8" y="0"/>
                </a:lnTo>
                <a:lnTo>
                  <a:pt x="1440978" y="1620732"/>
                </a:lnTo>
                <a:lnTo>
                  <a:pt x="0" y="1620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575232" y="564539"/>
            <a:ext cx="1101217" cy="1488131"/>
          </a:xfrm>
          <a:custGeom>
            <a:avLst/>
            <a:gdLst/>
            <a:ahLst/>
            <a:cxnLst/>
            <a:rect l="l" t="t" r="r" b="b"/>
            <a:pathLst>
              <a:path w="1101217" h="1488131">
                <a:moveTo>
                  <a:pt x="0" y="0"/>
                </a:moveTo>
                <a:lnTo>
                  <a:pt x="1101218" y="0"/>
                </a:lnTo>
                <a:lnTo>
                  <a:pt x="1101218" y="1488131"/>
                </a:lnTo>
                <a:lnTo>
                  <a:pt x="0" y="14881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60205" y="6532804"/>
            <a:ext cx="833906" cy="637938"/>
          </a:xfrm>
          <a:custGeom>
            <a:avLst/>
            <a:gdLst/>
            <a:ahLst/>
            <a:cxnLst/>
            <a:rect l="l" t="t" r="r" b="b"/>
            <a:pathLst>
              <a:path w="833906" h="637938">
                <a:moveTo>
                  <a:pt x="0" y="0"/>
                </a:moveTo>
                <a:lnTo>
                  <a:pt x="833905" y="0"/>
                </a:lnTo>
                <a:lnTo>
                  <a:pt x="833905" y="637938"/>
                </a:lnTo>
                <a:lnTo>
                  <a:pt x="0" y="63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15741" y="5212216"/>
            <a:ext cx="566002" cy="838521"/>
          </a:xfrm>
          <a:custGeom>
            <a:avLst/>
            <a:gdLst/>
            <a:ahLst/>
            <a:cxnLst/>
            <a:rect l="l" t="t" r="r" b="b"/>
            <a:pathLst>
              <a:path w="566002" h="838521">
                <a:moveTo>
                  <a:pt x="0" y="0"/>
                </a:moveTo>
                <a:lnTo>
                  <a:pt x="566001" y="0"/>
                </a:lnTo>
                <a:lnTo>
                  <a:pt x="566001" y="838521"/>
                </a:lnTo>
                <a:lnTo>
                  <a:pt x="0" y="8385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15741" y="4082784"/>
            <a:ext cx="592748" cy="673577"/>
          </a:xfrm>
          <a:custGeom>
            <a:avLst/>
            <a:gdLst/>
            <a:ahLst/>
            <a:cxnLst/>
            <a:rect l="l" t="t" r="r" b="b"/>
            <a:pathLst>
              <a:path w="592748" h="673577">
                <a:moveTo>
                  <a:pt x="0" y="0"/>
                </a:moveTo>
                <a:lnTo>
                  <a:pt x="592748" y="0"/>
                </a:lnTo>
                <a:lnTo>
                  <a:pt x="592748" y="673578"/>
                </a:lnTo>
                <a:lnTo>
                  <a:pt x="0" y="6735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97165" y="3073700"/>
            <a:ext cx="603152" cy="551884"/>
          </a:xfrm>
          <a:custGeom>
            <a:avLst/>
            <a:gdLst/>
            <a:ahLst/>
            <a:cxnLst/>
            <a:rect l="l" t="t" r="r" b="b"/>
            <a:pathLst>
              <a:path w="603152" h="551884">
                <a:moveTo>
                  <a:pt x="0" y="0"/>
                </a:moveTo>
                <a:lnTo>
                  <a:pt x="603153" y="0"/>
                </a:lnTo>
                <a:lnTo>
                  <a:pt x="603153" y="551884"/>
                </a:lnTo>
                <a:lnTo>
                  <a:pt x="0" y="55188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046211" y="2259833"/>
            <a:ext cx="3691220" cy="1365751"/>
          </a:xfrm>
          <a:custGeom>
            <a:avLst/>
            <a:gdLst/>
            <a:ahLst/>
            <a:cxnLst/>
            <a:rect l="l" t="t" r="r" b="b"/>
            <a:pathLst>
              <a:path w="3691220" h="1365751">
                <a:moveTo>
                  <a:pt x="0" y="0"/>
                </a:moveTo>
                <a:lnTo>
                  <a:pt x="3691220" y="0"/>
                </a:lnTo>
                <a:lnTo>
                  <a:pt x="3691220" y="1365751"/>
                </a:lnTo>
                <a:lnTo>
                  <a:pt x="0" y="13657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221378" y="4419573"/>
            <a:ext cx="3691220" cy="1365751"/>
          </a:xfrm>
          <a:custGeom>
            <a:avLst/>
            <a:gdLst/>
            <a:ahLst/>
            <a:cxnLst/>
            <a:rect l="l" t="t" r="r" b="b"/>
            <a:pathLst>
              <a:path w="3691220" h="1365751">
                <a:moveTo>
                  <a:pt x="0" y="0"/>
                </a:moveTo>
                <a:lnTo>
                  <a:pt x="3691220" y="0"/>
                </a:lnTo>
                <a:lnTo>
                  <a:pt x="3691220" y="1365752"/>
                </a:lnTo>
                <a:lnTo>
                  <a:pt x="0" y="13657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2348772" y="6716150"/>
            <a:ext cx="3691220" cy="1365751"/>
          </a:xfrm>
          <a:custGeom>
            <a:avLst/>
            <a:gdLst/>
            <a:ahLst/>
            <a:cxnLst/>
            <a:rect l="l" t="t" r="r" b="b"/>
            <a:pathLst>
              <a:path w="3691220" h="1365751">
                <a:moveTo>
                  <a:pt x="0" y="0"/>
                </a:moveTo>
                <a:lnTo>
                  <a:pt x="3691220" y="0"/>
                </a:lnTo>
                <a:lnTo>
                  <a:pt x="3691220" y="1365751"/>
                </a:lnTo>
                <a:lnTo>
                  <a:pt x="0" y="13657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5400000">
            <a:off x="13527713" y="3726638"/>
            <a:ext cx="728216" cy="712292"/>
          </a:xfrm>
          <a:custGeom>
            <a:avLst/>
            <a:gdLst/>
            <a:ahLst/>
            <a:cxnLst/>
            <a:rect l="l" t="t" r="r" b="b"/>
            <a:pathLst>
              <a:path w="728216" h="712292">
                <a:moveTo>
                  <a:pt x="0" y="0"/>
                </a:moveTo>
                <a:lnTo>
                  <a:pt x="728216" y="0"/>
                </a:lnTo>
                <a:lnTo>
                  <a:pt x="728216" y="712292"/>
                </a:lnTo>
                <a:lnTo>
                  <a:pt x="0" y="71229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117" b="-1117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587197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PKI &amp; SSL Certificates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01432" y="3222411"/>
            <a:ext cx="6173725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 trusted third party (e.g., DigiCert, Let’s Encrypt) that verifies identity and issues digital certificates.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822175" y="2823337"/>
            <a:ext cx="3553060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Certificate Authority (CA)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48722" y="820885"/>
            <a:ext cx="490069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2 · SSL/TLS CONCEPTS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801432" y="3981853"/>
            <a:ext cx="3553060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Digital Certificate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801432" y="4348066"/>
            <a:ext cx="6173725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An electronic document binding a public key to an identity (domain/organization), signed by a CA.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822175" y="5174116"/>
            <a:ext cx="4244448" cy="646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 dirty="0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Public Key Infrastructure (PKI)</a:t>
            </a:r>
          </a:p>
          <a:p>
            <a:pPr algn="l">
              <a:lnSpc>
                <a:spcPts val="2196"/>
              </a:lnSpc>
            </a:pPr>
            <a:endParaRPr lang="en-US" sz="1969" b="1" dirty="0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801432" y="5564837"/>
            <a:ext cx="6022234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 full framework of roles, policies, and systems used to create, manage, and revoke certificates.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822175" y="6390954"/>
            <a:ext cx="4922545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Trust Chain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866807" y="6924354"/>
            <a:ext cx="6042977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Root CA → Intermediate CA → Server certificate; browsers trust the chain if it leads to a known root.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3113135" y="2794608"/>
            <a:ext cx="155737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Root CA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651332" y="4806612"/>
            <a:ext cx="3086099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Intermediate CA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651332" y="6955621"/>
            <a:ext cx="283131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Server Certificate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8" name="Freeform 38"/>
          <p:cNvSpPr/>
          <p:nvPr/>
        </p:nvSpPr>
        <p:spPr>
          <a:xfrm rot="5400000">
            <a:off x="13702880" y="5894591"/>
            <a:ext cx="728216" cy="712292"/>
          </a:xfrm>
          <a:custGeom>
            <a:avLst/>
            <a:gdLst/>
            <a:ahLst/>
            <a:cxnLst/>
            <a:rect l="l" t="t" r="r" b="b"/>
            <a:pathLst>
              <a:path w="728216" h="712292">
                <a:moveTo>
                  <a:pt x="0" y="0"/>
                </a:moveTo>
                <a:lnTo>
                  <a:pt x="728216" y="0"/>
                </a:lnTo>
                <a:lnTo>
                  <a:pt x="728216" y="712292"/>
                </a:lnTo>
                <a:lnTo>
                  <a:pt x="0" y="71229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117" b="-1117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335440" y="8003713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8" y="0"/>
                </a:lnTo>
                <a:lnTo>
                  <a:pt x="1440978" y="1620732"/>
                </a:lnTo>
                <a:lnTo>
                  <a:pt x="0" y="16207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475182" y="1218985"/>
            <a:ext cx="2018389" cy="1554160"/>
          </a:xfrm>
          <a:custGeom>
            <a:avLst/>
            <a:gdLst/>
            <a:ahLst/>
            <a:cxnLst/>
            <a:rect l="l" t="t" r="r" b="b"/>
            <a:pathLst>
              <a:path w="2018389" h="1554160">
                <a:moveTo>
                  <a:pt x="0" y="0"/>
                </a:moveTo>
                <a:lnTo>
                  <a:pt x="2018389" y="0"/>
                </a:lnTo>
                <a:lnTo>
                  <a:pt x="2018389" y="1554160"/>
                </a:lnTo>
                <a:lnTo>
                  <a:pt x="0" y="1554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753571" y="3241461"/>
            <a:ext cx="5228537" cy="2535840"/>
          </a:xfrm>
          <a:custGeom>
            <a:avLst/>
            <a:gdLst/>
            <a:ahLst/>
            <a:cxnLst/>
            <a:rect l="l" t="t" r="r" b="b"/>
            <a:pathLst>
              <a:path w="5228537" h="2535840">
                <a:moveTo>
                  <a:pt x="0" y="0"/>
                </a:moveTo>
                <a:lnTo>
                  <a:pt x="5228537" y="0"/>
                </a:lnTo>
                <a:lnTo>
                  <a:pt x="5228537" y="2535840"/>
                </a:lnTo>
                <a:lnTo>
                  <a:pt x="0" y="25358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87197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Authentication &amp; Hashing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48722" y="820885"/>
            <a:ext cx="490069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2 · SSL/TLS CONCEPTS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2867981" y="6072576"/>
            <a:ext cx="5228537" cy="2535840"/>
          </a:xfrm>
          <a:custGeom>
            <a:avLst/>
            <a:gdLst/>
            <a:ahLst/>
            <a:cxnLst/>
            <a:rect l="l" t="t" r="r" b="b"/>
            <a:pathLst>
              <a:path w="5228537" h="2535840">
                <a:moveTo>
                  <a:pt x="0" y="0"/>
                </a:moveTo>
                <a:lnTo>
                  <a:pt x="5228537" y="0"/>
                </a:lnTo>
                <a:lnTo>
                  <a:pt x="5228537" y="2535841"/>
                </a:lnTo>
                <a:lnTo>
                  <a:pt x="0" y="25358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153195" y="3241461"/>
            <a:ext cx="5228537" cy="2535840"/>
          </a:xfrm>
          <a:custGeom>
            <a:avLst/>
            <a:gdLst/>
            <a:ahLst/>
            <a:cxnLst/>
            <a:rect l="l" t="t" r="r" b="b"/>
            <a:pathLst>
              <a:path w="5228537" h="2535840">
                <a:moveTo>
                  <a:pt x="0" y="0"/>
                </a:moveTo>
                <a:lnTo>
                  <a:pt x="5228537" y="0"/>
                </a:lnTo>
                <a:lnTo>
                  <a:pt x="5228537" y="2535840"/>
                </a:lnTo>
                <a:lnTo>
                  <a:pt x="0" y="25358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153195" y="6278239"/>
            <a:ext cx="5228537" cy="2535840"/>
          </a:xfrm>
          <a:custGeom>
            <a:avLst/>
            <a:gdLst/>
            <a:ahLst/>
            <a:cxnLst/>
            <a:rect l="l" t="t" r="r" b="b"/>
            <a:pathLst>
              <a:path w="5228537" h="2535840">
                <a:moveTo>
                  <a:pt x="0" y="0"/>
                </a:moveTo>
                <a:lnTo>
                  <a:pt x="5228537" y="0"/>
                </a:lnTo>
                <a:lnTo>
                  <a:pt x="5228537" y="2535840"/>
                </a:lnTo>
                <a:lnTo>
                  <a:pt x="0" y="25358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217175" y="3632468"/>
            <a:ext cx="2671081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Authentication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47424" y="4183951"/>
            <a:ext cx="3040832" cy="132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6"/>
              </a:lnSpc>
              <a:spcBef>
                <a:spcPct val="0"/>
              </a:spcBef>
            </a:pPr>
            <a:r>
              <a:rPr lang="en-US" sz="153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Confirms that the server (and optionally the client) is who it claims to be, using its certificate and private key.</a:t>
            </a:r>
          </a:p>
          <a:p>
            <a:pPr algn="l">
              <a:lnSpc>
                <a:spcPts val="2125"/>
              </a:lnSpc>
              <a:spcBef>
                <a:spcPct val="0"/>
              </a:spcBef>
            </a:pPr>
            <a:endParaRPr lang="en-US" sz="1533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627391" y="6272718"/>
            <a:ext cx="2473645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Hashing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961834" y="6680388"/>
            <a:ext cx="3040832" cy="132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6"/>
              </a:lnSpc>
              <a:spcBef>
                <a:spcPct val="0"/>
              </a:spcBef>
            </a:pPr>
            <a:r>
              <a:rPr lang="en-US" sz="153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 one-way function (e.g. SHA-256) that converts data into a fixed-length digest to detect any tampering.</a:t>
            </a:r>
          </a:p>
          <a:p>
            <a:pPr algn="l">
              <a:lnSpc>
                <a:spcPts val="2125"/>
              </a:lnSpc>
              <a:spcBef>
                <a:spcPct val="0"/>
              </a:spcBef>
            </a:pPr>
            <a:endParaRPr lang="en-US" sz="1533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451450" y="3601988"/>
            <a:ext cx="2962131" cy="855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Digital Signature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372749" y="4145288"/>
            <a:ext cx="3040832" cy="132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6"/>
              </a:lnSpc>
              <a:spcBef>
                <a:spcPct val="0"/>
              </a:spcBef>
            </a:pPr>
            <a:r>
              <a:rPr lang="en-US" sz="153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Data encrypted with a private key that anyone can verify with the matching public key, proving origin and integrity.</a:t>
            </a:r>
          </a:p>
          <a:p>
            <a:pPr algn="l">
              <a:lnSpc>
                <a:spcPts val="2125"/>
              </a:lnSpc>
              <a:spcBef>
                <a:spcPct val="0"/>
              </a:spcBef>
            </a:pPr>
            <a:endParaRPr lang="en-US" sz="1533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147982" y="6451788"/>
            <a:ext cx="4233749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Message Authentication Code (MAC)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147982" y="7327763"/>
            <a:ext cx="3040832" cy="132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6"/>
              </a:lnSpc>
              <a:spcBef>
                <a:spcPct val="0"/>
              </a:spcBef>
            </a:pPr>
            <a:r>
              <a:rPr lang="en-US" sz="153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 hash combined with a secret key, used to verify both the integrity and authenticity of transmitted data.</a:t>
            </a:r>
          </a:p>
          <a:p>
            <a:pPr algn="l">
              <a:lnSpc>
                <a:spcPts val="2125"/>
              </a:lnSpc>
              <a:spcBef>
                <a:spcPct val="0"/>
              </a:spcBef>
            </a:pPr>
            <a:endParaRPr lang="en-US" sz="1533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335440" y="8003713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8" y="0"/>
                </a:lnTo>
                <a:lnTo>
                  <a:pt x="1440978" y="1620732"/>
                </a:lnTo>
                <a:lnTo>
                  <a:pt x="0" y="1620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87020" y="3141469"/>
            <a:ext cx="3585195" cy="2258673"/>
          </a:xfrm>
          <a:custGeom>
            <a:avLst/>
            <a:gdLst/>
            <a:ahLst/>
            <a:cxnLst/>
            <a:rect l="l" t="t" r="r" b="b"/>
            <a:pathLst>
              <a:path w="3585195" h="2258673">
                <a:moveTo>
                  <a:pt x="0" y="0"/>
                </a:moveTo>
                <a:lnTo>
                  <a:pt x="3585195" y="0"/>
                </a:lnTo>
                <a:lnTo>
                  <a:pt x="3585195" y="2258673"/>
                </a:lnTo>
                <a:lnTo>
                  <a:pt x="0" y="2258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470734" y="3141469"/>
            <a:ext cx="3585195" cy="2258673"/>
          </a:xfrm>
          <a:custGeom>
            <a:avLst/>
            <a:gdLst/>
            <a:ahLst/>
            <a:cxnLst/>
            <a:rect l="l" t="t" r="r" b="b"/>
            <a:pathLst>
              <a:path w="3585195" h="2258673">
                <a:moveTo>
                  <a:pt x="0" y="0"/>
                </a:moveTo>
                <a:lnTo>
                  <a:pt x="3585195" y="0"/>
                </a:lnTo>
                <a:lnTo>
                  <a:pt x="3585195" y="2258673"/>
                </a:lnTo>
                <a:lnTo>
                  <a:pt x="0" y="2258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818915" y="3356223"/>
            <a:ext cx="741623" cy="842753"/>
          </a:xfrm>
          <a:custGeom>
            <a:avLst/>
            <a:gdLst/>
            <a:ahLst/>
            <a:cxnLst/>
            <a:rect l="l" t="t" r="r" b="b"/>
            <a:pathLst>
              <a:path w="741623" h="842753">
                <a:moveTo>
                  <a:pt x="0" y="0"/>
                </a:moveTo>
                <a:lnTo>
                  <a:pt x="741623" y="0"/>
                </a:lnTo>
                <a:lnTo>
                  <a:pt x="741623" y="842753"/>
                </a:lnTo>
                <a:lnTo>
                  <a:pt x="0" y="842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026585" y="3384336"/>
            <a:ext cx="906065" cy="906065"/>
          </a:xfrm>
          <a:custGeom>
            <a:avLst/>
            <a:gdLst/>
            <a:ahLst/>
            <a:cxnLst/>
            <a:rect l="l" t="t" r="r" b="b"/>
            <a:pathLst>
              <a:path w="906065" h="906065">
                <a:moveTo>
                  <a:pt x="0" y="0"/>
                </a:moveTo>
                <a:lnTo>
                  <a:pt x="906065" y="0"/>
                </a:lnTo>
                <a:lnTo>
                  <a:pt x="906065" y="906064"/>
                </a:lnTo>
                <a:lnTo>
                  <a:pt x="0" y="9060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>
            <a:off x="5128881" y="3777600"/>
            <a:ext cx="797591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Freeform 21"/>
          <p:cNvSpPr/>
          <p:nvPr/>
        </p:nvSpPr>
        <p:spPr>
          <a:xfrm>
            <a:off x="12445041" y="3553282"/>
            <a:ext cx="659757" cy="448635"/>
          </a:xfrm>
          <a:custGeom>
            <a:avLst/>
            <a:gdLst/>
            <a:ahLst/>
            <a:cxnLst/>
            <a:rect l="l" t="t" r="r" b="b"/>
            <a:pathLst>
              <a:path w="659757" h="448635">
                <a:moveTo>
                  <a:pt x="0" y="0"/>
                </a:moveTo>
                <a:lnTo>
                  <a:pt x="659757" y="0"/>
                </a:lnTo>
                <a:lnTo>
                  <a:pt x="659757" y="448635"/>
                </a:lnTo>
                <a:lnTo>
                  <a:pt x="0" y="4486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2" name="AutoShape 22"/>
          <p:cNvSpPr/>
          <p:nvPr/>
        </p:nvSpPr>
        <p:spPr>
          <a:xfrm>
            <a:off x="5506849" y="4366260"/>
            <a:ext cx="79891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 rot="-10800000">
            <a:off x="5506849" y="4141943"/>
            <a:ext cx="659757" cy="448635"/>
          </a:xfrm>
          <a:custGeom>
            <a:avLst/>
            <a:gdLst/>
            <a:ahLst/>
            <a:cxnLst/>
            <a:rect l="l" t="t" r="r" b="b"/>
            <a:pathLst>
              <a:path w="659757" h="448635">
                <a:moveTo>
                  <a:pt x="0" y="0"/>
                </a:moveTo>
                <a:lnTo>
                  <a:pt x="659757" y="0"/>
                </a:lnTo>
                <a:lnTo>
                  <a:pt x="659757" y="448634"/>
                </a:lnTo>
                <a:lnTo>
                  <a:pt x="0" y="4486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4" name="AutoShape 24"/>
          <p:cNvSpPr/>
          <p:nvPr/>
        </p:nvSpPr>
        <p:spPr>
          <a:xfrm flipV="1">
            <a:off x="5129420" y="4754880"/>
            <a:ext cx="7975378" cy="11468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2473089" y="4530563"/>
            <a:ext cx="659757" cy="448635"/>
          </a:xfrm>
          <a:custGeom>
            <a:avLst/>
            <a:gdLst/>
            <a:ahLst/>
            <a:cxnLst/>
            <a:rect l="l" t="t" r="r" b="b"/>
            <a:pathLst>
              <a:path w="659757" h="448635">
                <a:moveTo>
                  <a:pt x="0" y="0"/>
                </a:moveTo>
                <a:lnTo>
                  <a:pt x="659757" y="0"/>
                </a:lnTo>
                <a:lnTo>
                  <a:pt x="659757" y="448634"/>
                </a:lnTo>
                <a:lnTo>
                  <a:pt x="0" y="4486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4395794" y="5903347"/>
            <a:ext cx="9496413" cy="2943888"/>
          </a:xfrm>
          <a:custGeom>
            <a:avLst/>
            <a:gdLst/>
            <a:ahLst/>
            <a:cxnLst/>
            <a:rect l="l" t="t" r="r" b="b"/>
            <a:pathLst>
              <a:path w="9496413" h="2943888">
                <a:moveTo>
                  <a:pt x="0" y="0"/>
                </a:moveTo>
                <a:lnTo>
                  <a:pt x="9496412" y="0"/>
                </a:lnTo>
                <a:lnTo>
                  <a:pt x="9496412" y="2943887"/>
                </a:lnTo>
                <a:lnTo>
                  <a:pt x="0" y="29438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587197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How SSL/TLS Works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48722" y="820885"/>
            <a:ext cx="490069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3 · TLS HANDSHAKE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743200" y="4318635"/>
            <a:ext cx="2025790" cy="1291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Browser (Client)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4340568" y="4318635"/>
            <a:ext cx="1819676" cy="855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Web Server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704008" y="3311037"/>
            <a:ext cx="5334933" cy="69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1. Requests a secure connection (ClientHello)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7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900031" y="4006533"/>
            <a:ext cx="5334933" cy="69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2. Responds with certificate &amp; chosen cipher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7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804781" y="4898142"/>
            <a:ext cx="5334933" cy="69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3. Secure, encrypted communication begins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7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296135" y="6465322"/>
            <a:ext cx="7808663" cy="205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browser requests a secure connection and lists the cipher suites it supports.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server responds with its digital certificate and selects a cipher suite; both sides derive a shared session key.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Once the handshake completes, all further application data is encrypted using that session key.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6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8233" y="7792732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7" y="0"/>
                </a:lnTo>
                <a:lnTo>
                  <a:pt x="1440977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504175" y="7792732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026585" y="3384336"/>
            <a:ext cx="906065" cy="906065"/>
          </a:xfrm>
          <a:custGeom>
            <a:avLst/>
            <a:gdLst/>
            <a:ahLst/>
            <a:cxnLst/>
            <a:rect l="l" t="t" r="r" b="b"/>
            <a:pathLst>
              <a:path w="906065" h="906065">
                <a:moveTo>
                  <a:pt x="0" y="0"/>
                </a:moveTo>
                <a:lnTo>
                  <a:pt x="906065" y="0"/>
                </a:lnTo>
                <a:lnTo>
                  <a:pt x="906065" y="906064"/>
                </a:lnTo>
                <a:lnTo>
                  <a:pt x="0" y="906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671240" y="2305783"/>
            <a:ext cx="5961142" cy="6614981"/>
          </a:xfrm>
          <a:custGeom>
            <a:avLst/>
            <a:gdLst/>
            <a:ahLst/>
            <a:cxnLst/>
            <a:rect l="l" t="t" r="r" b="b"/>
            <a:pathLst>
              <a:path w="5961142" h="6614981">
                <a:moveTo>
                  <a:pt x="0" y="0"/>
                </a:moveTo>
                <a:lnTo>
                  <a:pt x="5961142" y="0"/>
                </a:lnTo>
                <a:lnTo>
                  <a:pt x="5961142" y="6614980"/>
                </a:lnTo>
                <a:lnTo>
                  <a:pt x="0" y="66149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676" b="-676"/>
            </a:stretch>
          </a:blipFill>
        </p:spPr>
      </p:sp>
      <p:sp>
        <p:nvSpPr>
          <p:cNvPr id="18" name="Freeform 18"/>
          <p:cNvSpPr/>
          <p:nvPr/>
        </p:nvSpPr>
        <p:spPr>
          <a:xfrm rot="-65200">
            <a:off x="9276261" y="447124"/>
            <a:ext cx="1706072" cy="1236902"/>
          </a:xfrm>
          <a:custGeom>
            <a:avLst/>
            <a:gdLst/>
            <a:ahLst/>
            <a:cxnLst/>
            <a:rect l="l" t="t" r="r" b="b"/>
            <a:pathLst>
              <a:path w="1706072" h="1236902">
                <a:moveTo>
                  <a:pt x="0" y="0"/>
                </a:moveTo>
                <a:lnTo>
                  <a:pt x="1706072" y="0"/>
                </a:lnTo>
                <a:lnTo>
                  <a:pt x="1706072" y="1236903"/>
                </a:lnTo>
                <a:lnTo>
                  <a:pt x="0" y="12369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87197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TLS Handshake Timeline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48722" y="820885"/>
            <a:ext cx="490069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3 · TLS HANDSHAKE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575232" y="7975138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8" y="0"/>
                </a:lnTo>
                <a:lnTo>
                  <a:pt x="1440978" y="1620732"/>
                </a:lnTo>
                <a:lnTo>
                  <a:pt x="0" y="1620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866881" y="6788183"/>
            <a:ext cx="3207988" cy="1186956"/>
          </a:xfrm>
          <a:custGeom>
            <a:avLst/>
            <a:gdLst/>
            <a:ahLst/>
            <a:cxnLst/>
            <a:rect l="l" t="t" r="r" b="b"/>
            <a:pathLst>
              <a:path w="3207988" h="1186956">
                <a:moveTo>
                  <a:pt x="0" y="0"/>
                </a:moveTo>
                <a:lnTo>
                  <a:pt x="3207989" y="0"/>
                </a:lnTo>
                <a:lnTo>
                  <a:pt x="3207989" y="1186955"/>
                </a:lnTo>
                <a:lnTo>
                  <a:pt x="0" y="1186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97165" y="6648630"/>
            <a:ext cx="550637" cy="684021"/>
          </a:xfrm>
          <a:custGeom>
            <a:avLst/>
            <a:gdLst/>
            <a:ahLst/>
            <a:cxnLst/>
            <a:rect l="l" t="t" r="r" b="b"/>
            <a:pathLst>
              <a:path w="550637" h="684021">
                <a:moveTo>
                  <a:pt x="0" y="0"/>
                </a:moveTo>
                <a:lnTo>
                  <a:pt x="550637" y="0"/>
                </a:lnTo>
                <a:lnTo>
                  <a:pt x="550637" y="684020"/>
                </a:lnTo>
                <a:lnTo>
                  <a:pt x="0" y="6840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12931" y="2861437"/>
            <a:ext cx="771621" cy="771621"/>
          </a:xfrm>
          <a:custGeom>
            <a:avLst/>
            <a:gdLst/>
            <a:ahLst/>
            <a:cxnLst/>
            <a:rect l="l" t="t" r="r" b="b"/>
            <a:pathLst>
              <a:path w="771621" h="771621">
                <a:moveTo>
                  <a:pt x="0" y="0"/>
                </a:moveTo>
                <a:lnTo>
                  <a:pt x="771621" y="0"/>
                </a:lnTo>
                <a:lnTo>
                  <a:pt x="771621" y="771621"/>
                </a:lnTo>
                <a:lnTo>
                  <a:pt x="0" y="7716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69372" y="5295627"/>
            <a:ext cx="817826" cy="813737"/>
          </a:xfrm>
          <a:custGeom>
            <a:avLst/>
            <a:gdLst/>
            <a:ahLst/>
            <a:cxnLst/>
            <a:rect l="l" t="t" r="r" b="b"/>
            <a:pathLst>
              <a:path w="817826" h="813737">
                <a:moveTo>
                  <a:pt x="0" y="0"/>
                </a:moveTo>
                <a:lnTo>
                  <a:pt x="817825" y="0"/>
                </a:lnTo>
                <a:lnTo>
                  <a:pt x="817825" y="813737"/>
                </a:lnTo>
                <a:lnTo>
                  <a:pt x="0" y="8137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11119" y="4260681"/>
            <a:ext cx="1093082" cy="407324"/>
          </a:xfrm>
          <a:custGeom>
            <a:avLst/>
            <a:gdLst/>
            <a:ahLst/>
            <a:cxnLst/>
            <a:rect l="l" t="t" r="r" b="b"/>
            <a:pathLst>
              <a:path w="1093082" h="407324">
                <a:moveTo>
                  <a:pt x="0" y="0"/>
                </a:moveTo>
                <a:lnTo>
                  <a:pt x="1093082" y="0"/>
                </a:lnTo>
                <a:lnTo>
                  <a:pt x="1093082" y="407324"/>
                </a:lnTo>
                <a:lnTo>
                  <a:pt x="0" y="40732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6355" b="-6355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028929" y="1060548"/>
            <a:ext cx="1499089" cy="1484098"/>
          </a:xfrm>
          <a:custGeom>
            <a:avLst/>
            <a:gdLst/>
            <a:ahLst/>
            <a:cxnLst/>
            <a:rect l="l" t="t" r="r" b="b"/>
            <a:pathLst>
              <a:path w="1499089" h="1484098">
                <a:moveTo>
                  <a:pt x="0" y="0"/>
                </a:moveTo>
                <a:lnTo>
                  <a:pt x="1499088" y="0"/>
                </a:lnTo>
                <a:lnTo>
                  <a:pt x="1499088" y="1484098"/>
                </a:lnTo>
                <a:lnTo>
                  <a:pt x="0" y="14840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587197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TLS Record Protocol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01432" y="3222411"/>
            <a:ext cx="6173725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 layer beneath the handshake that actually carries and protects all TLS traffic—handshake, alert and application data.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822175" y="2823337"/>
            <a:ext cx="3553060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TLS Record Protocol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48722" y="820885"/>
            <a:ext cx="490069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3 · TLS HANDSHAKE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01432" y="3991378"/>
            <a:ext cx="3553060" cy="26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5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Encapsulation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01432" y="4348066"/>
            <a:ext cx="6173725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Each message is fragmented, optionally compressed, then wrapped with a header, MAC, and encryption before being sent.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822175" y="5174116"/>
            <a:ext cx="3919317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Record Layer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801432" y="5564837"/>
            <a:ext cx="6022234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Adds a 5-byte header (type, version, length) to every record so the receiver can correctly reassemble and decrypt it.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822175" y="6390954"/>
            <a:ext cx="4922545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Protection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866807" y="6924354"/>
            <a:ext cx="6042977" cy="79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Provides confidentiality (encryption) and integrity (MAC) for every record exchanged after the handshake completes.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2731987" y="5437909"/>
            <a:ext cx="3161123" cy="1169615"/>
          </a:xfrm>
          <a:custGeom>
            <a:avLst/>
            <a:gdLst/>
            <a:ahLst/>
            <a:cxnLst/>
            <a:rect l="l" t="t" r="r" b="b"/>
            <a:pathLst>
              <a:path w="3161123" h="1169615">
                <a:moveTo>
                  <a:pt x="0" y="0"/>
                </a:moveTo>
                <a:lnTo>
                  <a:pt x="3161123" y="0"/>
                </a:lnTo>
                <a:lnTo>
                  <a:pt x="3161123" y="1169615"/>
                </a:lnTo>
                <a:lnTo>
                  <a:pt x="0" y="116961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731987" y="4170065"/>
            <a:ext cx="3031960" cy="1172594"/>
          </a:xfrm>
          <a:custGeom>
            <a:avLst/>
            <a:gdLst/>
            <a:ahLst/>
            <a:cxnLst/>
            <a:rect l="l" t="t" r="r" b="b"/>
            <a:pathLst>
              <a:path w="3031960" h="1172594">
                <a:moveTo>
                  <a:pt x="0" y="0"/>
                </a:moveTo>
                <a:lnTo>
                  <a:pt x="3031960" y="0"/>
                </a:lnTo>
                <a:lnTo>
                  <a:pt x="3031960" y="1172594"/>
                </a:lnTo>
                <a:lnTo>
                  <a:pt x="0" y="117259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r="-4525"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2623029" y="2911433"/>
            <a:ext cx="3141554" cy="1162375"/>
          </a:xfrm>
          <a:custGeom>
            <a:avLst/>
            <a:gdLst/>
            <a:ahLst/>
            <a:cxnLst/>
            <a:rect l="l" t="t" r="r" b="b"/>
            <a:pathLst>
              <a:path w="3141554" h="1162375">
                <a:moveTo>
                  <a:pt x="0" y="0"/>
                </a:moveTo>
                <a:lnTo>
                  <a:pt x="3141554" y="0"/>
                </a:lnTo>
                <a:lnTo>
                  <a:pt x="3141554" y="1162375"/>
                </a:lnTo>
                <a:lnTo>
                  <a:pt x="0" y="11623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9697725" y="3893700"/>
            <a:ext cx="952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12634543" y="1491349"/>
            <a:ext cx="3093502" cy="1149321"/>
          </a:xfrm>
          <a:custGeom>
            <a:avLst/>
            <a:gdLst/>
            <a:ahLst/>
            <a:cxnLst/>
            <a:rect l="l" t="t" r="r" b="b"/>
            <a:pathLst>
              <a:path w="3093502" h="1149321">
                <a:moveTo>
                  <a:pt x="0" y="0"/>
                </a:moveTo>
                <a:lnTo>
                  <a:pt x="3093502" y="0"/>
                </a:lnTo>
                <a:lnTo>
                  <a:pt x="3093502" y="1149321"/>
                </a:lnTo>
                <a:lnTo>
                  <a:pt x="0" y="11493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r="-412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2960665" y="1781376"/>
            <a:ext cx="2767380" cy="780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Application Data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141219" y="3178055"/>
            <a:ext cx="2219300" cy="780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Fragmentation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160057" y="4302408"/>
            <a:ext cx="284515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Compression (optional)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3580250" y="5789577"/>
            <a:ext cx="1659750" cy="780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Add MAC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 b="1" dirty="0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3762852" y="7140924"/>
            <a:ext cx="1477148" cy="382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Encrypt</a:t>
            </a:r>
          </a:p>
        </p:txBody>
      </p:sp>
      <p:sp>
        <p:nvSpPr>
          <p:cNvPr id="42" name="Freeform 42"/>
          <p:cNvSpPr/>
          <p:nvPr/>
        </p:nvSpPr>
        <p:spPr>
          <a:xfrm>
            <a:off x="12924124" y="7994396"/>
            <a:ext cx="3093502" cy="1149321"/>
          </a:xfrm>
          <a:custGeom>
            <a:avLst/>
            <a:gdLst/>
            <a:ahLst/>
            <a:cxnLst/>
            <a:rect l="l" t="t" r="r" b="b"/>
            <a:pathLst>
              <a:path w="3093502" h="1149321">
                <a:moveTo>
                  <a:pt x="0" y="0"/>
                </a:moveTo>
                <a:lnTo>
                  <a:pt x="3093503" y="0"/>
                </a:lnTo>
                <a:lnTo>
                  <a:pt x="3093503" y="1149321"/>
                </a:lnTo>
                <a:lnTo>
                  <a:pt x="0" y="11493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r="-412"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3387758" y="8165638"/>
            <a:ext cx="2166235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Record Header + Ciphertext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16072" y="1363611"/>
            <a:ext cx="7224512" cy="854266"/>
            <a:chOff x="0" y="0"/>
            <a:chExt cx="1902752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2752" cy="224992"/>
            </a:xfrm>
            <a:custGeom>
              <a:avLst/>
              <a:gdLst/>
              <a:ahLst/>
              <a:cxnLst/>
              <a:rect l="l" t="t" r="r" b="b"/>
              <a:pathLst>
                <a:path w="1902752" h="224992">
                  <a:moveTo>
                    <a:pt x="32149" y="0"/>
                  </a:moveTo>
                  <a:lnTo>
                    <a:pt x="1870603" y="0"/>
                  </a:lnTo>
                  <a:cubicBezTo>
                    <a:pt x="1879130" y="0"/>
                    <a:pt x="1887307" y="3387"/>
                    <a:pt x="1893336" y="9416"/>
                  </a:cubicBezTo>
                  <a:cubicBezTo>
                    <a:pt x="1899365" y="15445"/>
                    <a:pt x="1902752" y="23622"/>
                    <a:pt x="1902752" y="32149"/>
                  </a:cubicBezTo>
                  <a:lnTo>
                    <a:pt x="1902752" y="192843"/>
                  </a:lnTo>
                  <a:cubicBezTo>
                    <a:pt x="1902752" y="201370"/>
                    <a:pt x="1899365" y="209547"/>
                    <a:pt x="1893336" y="215576"/>
                  </a:cubicBezTo>
                  <a:cubicBezTo>
                    <a:pt x="1887307" y="221605"/>
                    <a:pt x="1879130" y="224992"/>
                    <a:pt x="1870603" y="224992"/>
                  </a:cubicBezTo>
                  <a:lnTo>
                    <a:pt x="32149" y="224992"/>
                  </a:lnTo>
                  <a:cubicBezTo>
                    <a:pt x="23622" y="224992"/>
                    <a:pt x="15445" y="221605"/>
                    <a:pt x="9416" y="215576"/>
                  </a:cubicBezTo>
                  <a:cubicBezTo>
                    <a:pt x="3387" y="209547"/>
                    <a:pt x="0" y="201370"/>
                    <a:pt x="0" y="192843"/>
                  </a:cubicBezTo>
                  <a:lnTo>
                    <a:pt x="0" y="32149"/>
                  </a:lnTo>
                  <a:cubicBezTo>
                    <a:pt x="0" y="23622"/>
                    <a:pt x="3387" y="15445"/>
                    <a:pt x="9416" y="9416"/>
                  </a:cubicBezTo>
                  <a:cubicBezTo>
                    <a:pt x="15445" y="3387"/>
                    <a:pt x="23622" y="0"/>
                    <a:pt x="32149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02752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82305" y="-139783"/>
            <a:ext cx="1317385" cy="131738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9199" y="325432"/>
            <a:ext cx="428470" cy="42847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7259300" y="2436846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7" y="0"/>
                </a:lnTo>
                <a:lnTo>
                  <a:pt x="1440977" y="1620732"/>
                </a:lnTo>
                <a:lnTo>
                  <a:pt x="0" y="1620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8700" y="6391203"/>
            <a:ext cx="2396754" cy="2372786"/>
          </a:xfrm>
          <a:custGeom>
            <a:avLst/>
            <a:gdLst/>
            <a:ahLst/>
            <a:cxnLst/>
            <a:rect l="l" t="t" r="r" b="b"/>
            <a:pathLst>
              <a:path w="2396754" h="2372786">
                <a:moveTo>
                  <a:pt x="0" y="0"/>
                </a:moveTo>
                <a:lnTo>
                  <a:pt x="2396754" y="0"/>
                </a:lnTo>
                <a:lnTo>
                  <a:pt x="2396754" y="2372786"/>
                </a:lnTo>
                <a:lnTo>
                  <a:pt x="0" y="2372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146175" y="6429303"/>
            <a:ext cx="2396754" cy="2372786"/>
          </a:xfrm>
          <a:custGeom>
            <a:avLst/>
            <a:gdLst/>
            <a:ahLst/>
            <a:cxnLst/>
            <a:rect l="l" t="t" r="r" b="b"/>
            <a:pathLst>
              <a:path w="2396754" h="2372786">
                <a:moveTo>
                  <a:pt x="0" y="0"/>
                </a:moveTo>
                <a:lnTo>
                  <a:pt x="2396754" y="0"/>
                </a:lnTo>
                <a:lnTo>
                  <a:pt x="2396754" y="2372786"/>
                </a:lnTo>
                <a:lnTo>
                  <a:pt x="0" y="23727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532500" y="6429303"/>
            <a:ext cx="2400845" cy="2376836"/>
          </a:xfrm>
          <a:custGeom>
            <a:avLst/>
            <a:gdLst/>
            <a:ahLst/>
            <a:cxnLst/>
            <a:rect l="l" t="t" r="r" b="b"/>
            <a:pathLst>
              <a:path w="2400845" h="2376836">
                <a:moveTo>
                  <a:pt x="0" y="0"/>
                </a:moveTo>
                <a:lnTo>
                  <a:pt x="2400844" y="0"/>
                </a:lnTo>
                <a:lnTo>
                  <a:pt x="2400844" y="2376836"/>
                </a:lnTo>
                <a:lnTo>
                  <a:pt x="0" y="2376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923944" y="6391203"/>
            <a:ext cx="2386932" cy="2363062"/>
          </a:xfrm>
          <a:custGeom>
            <a:avLst/>
            <a:gdLst/>
            <a:ahLst/>
            <a:cxnLst/>
            <a:rect l="l" t="t" r="r" b="b"/>
            <a:pathLst>
              <a:path w="2386932" h="2363062">
                <a:moveTo>
                  <a:pt x="0" y="0"/>
                </a:moveTo>
                <a:lnTo>
                  <a:pt x="2386932" y="0"/>
                </a:lnTo>
                <a:lnTo>
                  <a:pt x="2386932" y="2363062"/>
                </a:lnTo>
                <a:lnTo>
                  <a:pt x="0" y="2363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499522" y="582164"/>
            <a:ext cx="2424422" cy="1854683"/>
          </a:xfrm>
          <a:custGeom>
            <a:avLst/>
            <a:gdLst/>
            <a:ahLst/>
            <a:cxnLst/>
            <a:rect l="l" t="t" r="r" b="b"/>
            <a:pathLst>
              <a:path w="2424422" h="1854683">
                <a:moveTo>
                  <a:pt x="0" y="0"/>
                </a:moveTo>
                <a:lnTo>
                  <a:pt x="2424422" y="0"/>
                </a:lnTo>
                <a:lnTo>
                  <a:pt x="2424422" y="1854682"/>
                </a:lnTo>
                <a:lnTo>
                  <a:pt x="0" y="18546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2379802"/>
            <a:ext cx="8316524" cy="1348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5100" spc="-280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Cipher Suites</a:t>
            </a:r>
          </a:p>
          <a:p>
            <a:pPr algn="l">
              <a:lnSpc>
                <a:spcPts val="5100"/>
              </a:lnSpc>
            </a:pPr>
            <a:endParaRPr lang="en-US" sz="5100" spc="-280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63206" y="1553704"/>
            <a:ext cx="489810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3 · TLS HANDSHAKE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825647" y="3068154"/>
            <a:ext cx="14148776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 cipher suite is the combination of algorithms a client and server agree to use for a TLS session.</a:t>
            </a:r>
          </a:p>
          <a:p>
            <a:pPr marL="453392" lvl="1" indent="-226696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It defines the key exchange method, the bulk encryption algorithm, and the authentication / hashing scheme.</a:t>
            </a:r>
          </a:p>
          <a:p>
            <a:pPr marL="453392" lvl="1" indent="-226696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server selects one suite from the client's offered list during the handshake.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369199" y="5192229"/>
            <a:ext cx="15192831" cy="710626"/>
            <a:chOff x="0" y="0"/>
            <a:chExt cx="3604635" cy="16860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04635" cy="168602"/>
            </a:xfrm>
            <a:custGeom>
              <a:avLst/>
              <a:gdLst/>
              <a:ahLst/>
              <a:cxnLst/>
              <a:rect l="l" t="t" r="r" b="b"/>
              <a:pathLst>
                <a:path w="3604635" h="168602">
                  <a:moveTo>
                    <a:pt x="9953" y="0"/>
                  </a:moveTo>
                  <a:lnTo>
                    <a:pt x="3594683" y="0"/>
                  </a:lnTo>
                  <a:cubicBezTo>
                    <a:pt x="3600179" y="0"/>
                    <a:pt x="3604635" y="4456"/>
                    <a:pt x="3604635" y="9953"/>
                  </a:cubicBezTo>
                  <a:lnTo>
                    <a:pt x="3604635" y="158650"/>
                  </a:lnTo>
                  <a:cubicBezTo>
                    <a:pt x="3604635" y="164146"/>
                    <a:pt x="3600179" y="168602"/>
                    <a:pt x="3594683" y="168602"/>
                  </a:cubicBezTo>
                  <a:lnTo>
                    <a:pt x="9953" y="168602"/>
                  </a:lnTo>
                  <a:cubicBezTo>
                    <a:pt x="4456" y="168602"/>
                    <a:pt x="0" y="164146"/>
                    <a:pt x="0" y="158650"/>
                  </a:cubicBezTo>
                  <a:lnTo>
                    <a:pt x="0" y="9953"/>
                  </a:lnTo>
                  <a:cubicBezTo>
                    <a:pt x="0" y="4456"/>
                    <a:pt x="4456" y="0"/>
                    <a:pt x="9953" y="0"/>
                  </a:cubicBezTo>
                  <a:close/>
                </a:path>
              </a:pathLst>
            </a:custGeom>
            <a:solidFill>
              <a:srgbClr val="41648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3604635" cy="216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344552" y="5320847"/>
            <a:ext cx="724212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TLS_ECDHE_RSA_WITH_AES_128_GCM_SHA256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301476" y="6429303"/>
            <a:ext cx="2400845" cy="2376836"/>
          </a:xfrm>
          <a:custGeom>
            <a:avLst/>
            <a:gdLst/>
            <a:ahLst/>
            <a:cxnLst/>
            <a:rect l="l" t="t" r="r" b="b"/>
            <a:pathLst>
              <a:path w="2400845" h="2376836">
                <a:moveTo>
                  <a:pt x="0" y="0"/>
                </a:moveTo>
                <a:lnTo>
                  <a:pt x="2400844" y="0"/>
                </a:lnTo>
                <a:lnTo>
                  <a:pt x="2400844" y="2376836"/>
                </a:lnTo>
                <a:lnTo>
                  <a:pt x="0" y="2376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825647" y="6609609"/>
            <a:ext cx="58831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TLS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583434" y="6998229"/>
            <a:ext cx="149253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Protocol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83434" y="7375419"/>
            <a:ext cx="1786376" cy="11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Indicates the protocol in use (TLS).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756234" y="6667292"/>
            <a:ext cx="1305072" cy="855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ECDHE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492412" y="7059825"/>
            <a:ext cx="2400844" cy="701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Key Exchange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 dirty="0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428295" y="7405899"/>
            <a:ext cx="2180145" cy="146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Elliptic Curve Diffie-Hellman Ephemeral — provides forward secrecy.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311812" y="6667292"/>
            <a:ext cx="1033412" cy="855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RSA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738604" y="6998229"/>
            <a:ext cx="197313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Authentication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809963" y="7375419"/>
            <a:ext cx="2180145" cy="146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server authenticates itself using an RSA certificate/signature.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 dirty="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1013254" y="6553094"/>
            <a:ext cx="220831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AES_128_GCM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56908" y="6998229"/>
            <a:ext cx="2610099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Bulk Encryption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056908" y="7405899"/>
            <a:ext cx="2180145" cy="11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AES with a 128-bit key in Galois/Counter Mode — encrypts the data.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4806732" y="6609609"/>
            <a:ext cx="1500068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SHA256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669374" y="6998229"/>
            <a:ext cx="2610099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Hash / MAC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4522176" y="7405899"/>
            <a:ext cx="2180145" cy="11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SHA-256 is used for the handshake integrity check (HMAC/PRF).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15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847023" y="8150305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7" y="0"/>
                </a:lnTo>
                <a:lnTo>
                  <a:pt x="1440977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97744" y="5303124"/>
            <a:ext cx="802080" cy="802080"/>
          </a:xfrm>
          <a:custGeom>
            <a:avLst/>
            <a:gdLst/>
            <a:ahLst/>
            <a:cxnLst/>
            <a:rect l="l" t="t" r="r" b="b"/>
            <a:pathLst>
              <a:path w="802080" h="802080">
                <a:moveTo>
                  <a:pt x="0" y="0"/>
                </a:moveTo>
                <a:lnTo>
                  <a:pt x="802079" y="0"/>
                </a:lnTo>
                <a:lnTo>
                  <a:pt x="802079" y="802080"/>
                </a:lnTo>
                <a:lnTo>
                  <a:pt x="0" y="802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67185" y="2700163"/>
            <a:ext cx="912415" cy="912415"/>
          </a:xfrm>
          <a:custGeom>
            <a:avLst/>
            <a:gdLst/>
            <a:ahLst/>
            <a:cxnLst/>
            <a:rect l="l" t="t" r="r" b="b"/>
            <a:pathLst>
              <a:path w="912415" h="912415">
                <a:moveTo>
                  <a:pt x="0" y="0"/>
                </a:moveTo>
                <a:lnTo>
                  <a:pt x="912415" y="0"/>
                </a:lnTo>
                <a:lnTo>
                  <a:pt x="912415" y="912415"/>
                </a:lnTo>
                <a:lnTo>
                  <a:pt x="0" y="9124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2280739">
            <a:off x="13253789" y="2964535"/>
            <a:ext cx="3185650" cy="3099432"/>
          </a:xfrm>
          <a:custGeom>
            <a:avLst/>
            <a:gdLst/>
            <a:ahLst/>
            <a:cxnLst/>
            <a:rect l="l" t="t" r="r" b="b"/>
            <a:pathLst>
              <a:path w="3185650" h="3099432">
                <a:moveTo>
                  <a:pt x="0" y="0"/>
                </a:moveTo>
                <a:lnTo>
                  <a:pt x="3185650" y="0"/>
                </a:lnTo>
                <a:lnTo>
                  <a:pt x="3185650" y="3099432"/>
                </a:lnTo>
                <a:lnTo>
                  <a:pt x="0" y="30994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61" b="-2619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96439" y="6429054"/>
            <a:ext cx="803385" cy="1010547"/>
          </a:xfrm>
          <a:custGeom>
            <a:avLst/>
            <a:gdLst/>
            <a:ahLst/>
            <a:cxnLst/>
            <a:rect l="l" t="t" r="r" b="b"/>
            <a:pathLst>
              <a:path w="803385" h="1010547">
                <a:moveTo>
                  <a:pt x="0" y="0"/>
                </a:moveTo>
                <a:lnTo>
                  <a:pt x="803384" y="0"/>
                </a:lnTo>
                <a:lnTo>
                  <a:pt x="803384" y="1010547"/>
                </a:lnTo>
                <a:lnTo>
                  <a:pt x="0" y="10105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67185" y="4130479"/>
            <a:ext cx="953669" cy="729557"/>
          </a:xfrm>
          <a:custGeom>
            <a:avLst/>
            <a:gdLst/>
            <a:ahLst/>
            <a:cxnLst/>
            <a:rect l="l" t="t" r="r" b="b"/>
            <a:pathLst>
              <a:path w="953669" h="729557">
                <a:moveTo>
                  <a:pt x="0" y="0"/>
                </a:moveTo>
                <a:lnTo>
                  <a:pt x="953669" y="0"/>
                </a:lnTo>
                <a:lnTo>
                  <a:pt x="953669" y="729557"/>
                </a:lnTo>
                <a:lnTo>
                  <a:pt x="0" y="7295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10605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 to Wireshark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262681" y="3222411"/>
            <a:ext cx="8801226" cy="54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 free, open-source network protocol analyser used to capture and inspect traffic in real time.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283424" y="2823337"/>
            <a:ext cx="3553060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What is Wireshark?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43720" y="872360"/>
            <a:ext cx="522494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4 · WIRESHARK ANALYSIS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262681" y="3981853"/>
            <a:ext cx="3553060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Packet Capture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262681" y="4348066"/>
            <a:ext cx="9438195" cy="54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Wireshark listens on a network interface and records every packet, including its full header and payload.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283424" y="5174116"/>
            <a:ext cx="3553060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Packet Analysis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262681" y="5564837"/>
            <a:ext cx="10417325" cy="54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Captured packets are decoded layer-by-layer against the OSI model, from Ethernet up to the Application layer.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283424" y="6390954"/>
            <a:ext cx="4922545" cy="6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6"/>
              </a:lnSpc>
            </a:pPr>
            <a:r>
              <a:rPr lang="en-US" sz="1969" b="1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TLS Filter</a:t>
            </a:r>
          </a:p>
          <a:p>
            <a:pPr algn="l">
              <a:lnSpc>
                <a:spcPts val="2196"/>
              </a:lnSpc>
            </a:pPr>
            <a:endParaRPr lang="en-US" sz="1969" b="1">
              <a:solidFill>
                <a:srgbClr val="231F2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328056" y="6924354"/>
            <a:ext cx="9864795" cy="54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9"/>
              </a:lnSpc>
            </a:pPr>
            <a:r>
              <a:rPr lang="en-US" sz="1478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 display filter tls (or ssl) isolates only TLS handshake and application-data records for focused analysis.</a:t>
            </a:r>
          </a:p>
          <a:p>
            <a:pPr algn="l">
              <a:lnSpc>
                <a:spcPts val="2412"/>
              </a:lnSpc>
            </a:pPr>
            <a:endParaRPr lang="en-US" sz="1478">
              <a:solidFill>
                <a:srgbClr val="231F2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965427" y="7845660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7" y="0"/>
                </a:lnTo>
                <a:lnTo>
                  <a:pt x="1440977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04782" y="2512798"/>
            <a:ext cx="9895213" cy="6423074"/>
          </a:xfrm>
          <a:custGeom>
            <a:avLst/>
            <a:gdLst/>
            <a:ahLst/>
            <a:cxnLst/>
            <a:rect l="l" t="t" r="r" b="b"/>
            <a:pathLst>
              <a:path w="9895213" h="6423074">
                <a:moveTo>
                  <a:pt x="0" y="0"/>
                </a:moveTo>
                <a:lnTo>
                  <a:pt x="9895213" y="0"/>
                </a:lnTo>
                <a:lnTo>
                  <a:pt x="9895213" y="6423074"/>
                </a:lnTo>
                <a:lnTo>
                  <a:pt x="0" y="64230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10605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Client Hello Analysis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3720" y="872360"/>
            <a:ext cx="522494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4 · WIRESHARK ANALYSIS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762387" y="2859574"/>
            <a:ext cx="5936416" cy="4828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864"/>
              </a:lnSpc>
              <a:buAutoNum type="arabicPeriod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TLS Version: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highest protocol version the client supports.</a:t>
            </a:r>
          </a:p>
          <a:p>
            <a:pPr marL="518160" lvl="1" indent="-259080" algn="l">
              <a:lnSpc>
                <a:spcPts val="3864"/>
              </a:lnSpc>
              <a:buAutoNum type="arabicPeriod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Random: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32-byte client-generated value used in later key derivation.</a:t>
            </a:r>
          </a:p>
          <a:p>
            <a:pPr marL="518160" lvl="1" indent="-259080" algn="l">
              <a:lnSpc>
                <a:spcPts val="3864"/>
              </a:lnSpc>
              <a:buAutoNum type="arabicPeriod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Cipher Suites: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the ordered list of encryption combinations the client offers.</a:t>
            </a:r>
          </a:p>
          <a:p>
            <a:pPr marL="518160" lvl="1" indent="-259080" algn="l">
              <a:lnSpc>
                <a:spcPts val="3864"/>
              </a:lnSpc>
              <a:buAutoNum type="arabicPeriod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Extensions: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e.g., SNI (requested hostname), supported groups, ALPN.</a:t>
            </a:r>
          </a:p>
          <a:p>
            <a:pPr algn="just">
              <a:lnSpc>
                <a:spcPts val="3864"/>
              </a:lnSpc>
            </a:pPr>
            <a:endParaRPr lang="en-US" sz="24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965427" y="7845660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7" y="0"/>
                </a:lnTo>
                <a:lnTo>
                  <a:pt x="1440977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301573" y="2547436"/>
            <a:ext cx="7663854" cy="6310450"/>
          </a:xfrm>
          <a:custGeom>
            <a:avLst/>
            <a:gdLst/>
            <a:ahLst/>
            <a:cxnLst/>
            <a:rect l="l" t="t" r="r" b="b"/>
            <a:pathLst>
              <a:path w="7663854" h="6310450">
                <a:moveTo>
                  <a:pt x="0" y="0"/>
                </a:moveTo>
                <a:lnTo>
                  <a:pt x="7663854" y="0"/>
                </a:lnTo>
                <a:lnTo>
                  <a:pt x="7663854" y="6310450"/>
                </a:lnTo>
                <a:lnTo>
                  <a:pt x="0" y="6310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10605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Server Hello Analysis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3720" y="872360"/>
            <a:ext cx="522494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4 · WIRESHARK ANALYSIS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57660" y="2875043"/>
            <a:ext cx="6581005" cy="5982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32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Selected TLS Version: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the protocol version the server has chosen to use.</a:t>
            </a:r>
          </a:p>
          <a:p>
            <a:pPr algn="l">
              <a:lnSpc>
                <a:spcPts val="4032"/>
              </a:lnSpc>
            </a:pPr>
            <a:endParaRPr lang="en-US" sz="24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518160" lvl="1" indent="-259080" algn="l">
              <a:lnSpc>
                <a:spcPts val="4032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Selected Cipher Suite: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the single suite chosen from the client's offered list.</a:t>
            </a:r>
          </a:p>
          <a:p>
            <a:pPr algn="l">
              <a:lnSpc>
                <a:spcPts val="4032"/>
              </a:lnSpc>
            </a:pPr>
            <a:endParaRPr lang="en-US" sz="24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518160" lvl="1" indent="-259080" algn="l">
              <a:lnSpc>
                <a:spcPts val="4032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Session ID: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identifier that may allow the session to be resumed later.</a:t>
            </a:r>
          </a:p>
          <a:p>
            <a:pPr algn="l">
              <a:lnSpc>
                <a:spcPts val="4032"/>
              </a:lnSpc>
            </a:pPr>
            <a:endParaRPr lang="en-US" sz="24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518160" lvl="1" indent="-259080" algn="l">
              <a:lnSpc>
                <a:spcPts val="4032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Server Random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: combined with the client random to derive session keys.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965427" y="7845660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7" y="0"/>
                </a:lnTo>
                <a:lnTo>
                  <a:pt x="1440977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980912" y="2483430"/>
            <a:ext cx="7766603" cy="6148933"/>
          </a:xfrm>
          <a:custGeom>
            <a:avLst/>
            <a:gdLst/>
            <a:ahLst/>
            <a:cxnLst/>
            <a:rect l="l" t="t" r="r" b="b"/>
            <a:pathLst>
              <a:path w="7766603" h="6148933">
                <a:moveTo>
                  <a:pt x="0" y="0"/>
                </a:moveTo>
                <a:lnTo>
                  <a:pt x="7766603" y="0"/>
                </a:lnTo>
                <a:lnTo>
                  <a:pt x="7766603" y="6148934"/>
                </a:lnTo>
                <a:lnTo>
                  <a:pt x="0" y="6148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10605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Certificate Analysis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3720" y="872360"/>
            <a:ext cx="522494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4 · WIRESHARK ANALYSIS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498326" y="3435850"/>
            <a:ext cx="6207129" cy="259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Issuer: </a:t>
            </a:r>
            <a:r>
              <a:rPr lang="en-US" sz="24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Certificate Authority that signed the certificate.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Validity:</a:t>
            </a:r>
            <a:r>
              <a:rPr lang="en-US" sz="24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the certificate's not-before / not-after date range.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315953" y="7813811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8" y="0"/>
                </a:lnTo>
                <a:lnTo>
                  <a:pt x="1440978" y="1620732"/>
                </a:lnTo>
                <a:lnTo>
                  <a:pt x="0" y="1620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781168" y="2512798"/>
            <a:ext cx="9534785" cy="5757499"/>
          </a:xfrm>
          <a:custGeom>
            <a:avLst/>
            <a:gdLst/>
            <a:ahLst/>
            <a:cxnLst/>
            <a:rect l="l" t="t" r="r" b="b"/>
            <a:pathLst>
              <a:path w="9534785" h="5757499">
                <a:moveTo>
                  <a:pt x="0" y="0"/>
                </a:moveTo>
                <a:lnTo>
                  <a:pt x="9534785" y="0"/>
                </a:lnTo>
                <a:lnTo>
                  <a:pt x="9534785" y="5757499"/>
                </a:lnTo>
                <a:lnTo>
                  <a:pt x="0" y="57574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10605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Certificate Analysis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3720" y="872360"/>
            <a:ext cx="522494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4 · WIRESHARK ANALYSIS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51363" y="2957811"/>
            <a:ext cx="5902892" cy="547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0087" lvl="1" indent="-280044" algn="l">
              <a:lnSpc>
                <a:spcPts val="3631"/>
              </a:lnSpc>
              <a:buFont typeface="Arial"/>
              <a:buChar char="•"/>
            </a:pPr>
            <a:r>
              <a:rPr lang="en-US" sz="2594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Subject:</a:t>
            </a:r>
            <a:r>
              <a:rPr lang="en-US" sz="2594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the entity (domain/organization) the certificate was issued to.</a:t>
            </a:r>
          </a:p>
          <a:p>
            <a:pPr algn="l">
              <a:lnSpc>
                <a:spcPts val="3631"/>
              </a:lnSpc>
            </a:pPr>
            <a:endParaRPr lang="en-US" sz="2594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560087" lvl="1" indent="-280044" algn="l">
              <a:lnSpc>
                <a:spcPts val="3631"/>
              </a:lnSpc>
              <a:buFont typeface="Arial"/>
              <a:buChar char="•"/>
            </a:pPr>
            <a:r>
              <a:rPr lang="en-US" sz="2594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Public Key:</a:t>
            </a:r>
            <a:r>
              <a:rPr lang="en-US" sz="2594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the key bound to this certificate, used for authentication.</a:t>
            </a:r>
          </a:p>
          <a:p>
            <a:pPr algn="l">
              <a:lnSpc>
                <a:spcPts val="3631"/>
              </a:lnSpc>
            </a:pPr>
            <a:endParaRPr lang="en-US" sz="2594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560087" lvl="1" indent="-280044" algn="l">
              <a:lnSpc>
                <a:spcPts val="3631"/>
              </a:lnSpc>
              <a:buFont typeface="Arial"/>
              <a:buChar char="•"/>
            </a:pPr>
            <a:r>
              <a:rPr lang="en-US" sz="2594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Signature Algorithm:</a:t>
            </a:r>
            <a:r>
              <a:rPr lang="en-US" sz="2594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e.g., SHA256withRSA, used to sign the certificate.</a:t>
            </a:r>
          </a:p>
          <a:p>
            <a:pPr algn="l">
              <a:lnSpc>
                <a:spcPts val="3631"/>
              </a:lnSpc>
            </a:pPr>
            <a:endParaRPr lang="en-US" sz="2594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10678" y="601567"/>
            <a:ext cx="7383754" cy="854266"/>
            <a:chOff x="0" y="0"/>
            <a:chExt cx="1944692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4692" cy="224992"/>
            </a:xfrm>
            <a:custGeom>
              <a:avLst/>
              <a:gdLst/>
              <a:ahLst/>
              <a:cxnLst/>
              <a:rect l="l" t="t" r="r" b="b"/>
              <a:pathLst>
                <a:path w="1944692" h="224992">
                  <a:moveTo>
                    <a:pt x="31455" y="0"/>
                  </a:moveTo>
                  <a:lnTo>
                    <a:pt x="1913237" y="0"/>
                  </a:lnTo>
                  <a:cubicBezTo>
                    <a:pt x="1921580" y="0"/>
                    <a:pt x="1929580" y="3314"/>
                    <a:pt x="1935479" y="9213"/>
                  </a:cubicBezTo>
                  <a:cubicBezTo>
                    <a:pt x="1941378" y="15112"/>
                    <a:pt x="1944692" y="23113"/>
                    <a:pt x="1944692" y="31455"/>
                  </a:cubicBezTo>
                  <a:lnTo>
                    <a:pt x="1944692" y="193537"/>
                  </a:lnTo>
                  <a:cubicBezTo>
                    <a:pt x="1944692" y="201879"/>
                    <a:pt x="1941378" y="209880"/>
                    <a:pt x="1935479" y="215779"/>
                  </a:cubicBezTo>
                  <a:cubicBezTo>
                    <a:pt x="1929580" y="221678"/>
                    <a:pt x="1921580" y="224992"/>
                    <a:pt x="1913237" y="224992"/>
                  </a:cubicBezTo>
                  <a:lnTo>
                    <a:pt x="31455" y="224992"/>
                  </a:lnTo>
                  <a:cubicBezTo>
                    <a:pt x="23113" y="224992"/>
                    <a:pt x="15112" y="221678"/>
                    <a:pt x="9213" y="215779"/>
                  </a:cubicBezTo>
                  <a:cubicBezTo>
                    <a:pt x="3314" y="209880"/>
                    <a:pt x="0" y="201879"/>
                    <a:pt x="0" y="193537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44692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15986" y="-293126"/>
            <a:ext cx="1789386" cy="178938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2407" y="1455833"/>
            <a:ext cx="581985" cy="58198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050076" y="739798"/>
            <a:ext cx="853014" cy="577804"/>
          </a:xfrm>
          <a:custGeom>
            <a:avLst/>
            <a:gdLst/>
            <a:ahLst/>
            <a:cxnLst/>
            <a:rect l="l" t="t" r="r" b="b"/>
            <a:pathLst>
              <a:path w="853014" h="577804">
                <a:moveTo>
                  <a:pt x="0" y="0"/>
                </a:moveTo>
                <a:lnTo>
                  <a:pt x="853014" y="0"/>
                </a:lnTo>
                <a:lnTo>
                  <a:pt x="853014" y="577804"/>
                </a:lnTo>
                <a:lnTo>
                  <a:pt x="0" y="57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82407" y="2745681"/>
            <a:ext cx="9159407" cy="5924248"/>
          </a:xfrm>
          <a:custGeom>
            <a:avLst/>
            <a:gdLst/>
            <a:ahLst/>
            <a:cxnLst/>
            <a:rect l="l" t="t" r="r" b="b"/>
            <a:pathLst>
              <a:path w="9159407" h="5924248">
                <a:moveTo>
                  <a:pt x="0" y="0"/>
                </a:moveTo>
                <a:lnTo>
                  <a:pt x="9159407" y="0"/>
                </a:lnTo>
                <a:lnTo>
                  <a:pt x="9159407" y="5924248"/>
                </a:lnTo>
                <a:lnTo>
                  <a:pt x="0" y="59242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558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731398" y="802005"/>
            <a:ext cx="666569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5 · WIRESHARK ANALYSIS (CONT.)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24324" y="1680151"/>
            <a:ext cx="8033876" cy="1136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Server &amp; Client Key Exchange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3699" b="1" dirty="0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142201" y="3594855"/>
            <a:ext cx="5641725" cy="384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608" lvl="1" indent="-264804" algn="l">
              <a:lnSpc>
                <a:spcPts val="3434"/>
              </a:lnSpc>
              <a:buFont typeface="Arial"/>
              <a:buChar char="•"/>
            </a:pPr>
            <a:r>
              <a:rPr lang="en-US" sz="2453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Key Exchange: </a:t>
            </a:r>
            <a:r>
              <a:rPr lang="en-US" sz="245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mechanism (e.g., ECDHE) used to agree on secret material without sending it in plaintext.</a:t>
            </a:r>
          </a:p>
          <a:p>
            <a:pPr algn="l">
              <a:lnSpc>
                <a:spcPts val="3434"/>
              </a:lnSpc>
            </a:pPr>
            <a:endParaRPr lang="en-US" sz="2453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529608" lvl="1" indent="-264804" algn="l">
              <a:lnSpc>
                <a:spcPts val="3434"/>
              </a:lnSpc>
              <a:buFont typeface="Arial"/>
              <a:buChar char="•"/>
            </a:pPr>
            <a:r>
              <a:rPr lang="en-US" sz="2453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Shared Secret:</a:t>
            </a:r>
            <a:r>
              <a:rPr lang="en-US" sz="245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a value both sides compute independently that never travels across the network.</a:t>
            </a:r>
          </a:p>
          <a:p>
            <a:pPr algn="l">
              <a:lnSpc>
                <a:spcPts val="3434"/>
              </a:lnSpc>
              <a:spcBef>
                <a:spcPct val="0"/>
              </a:spcBef>
            </a:pPr>
            <a:endParaRPr lang="en-US" sz="2453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10678" y="601567"/>
            <a:ext cx="7383754" cy="854266"/>
            <a:chOff x="0" y="0"/>
            <a:chExt cx="1944692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4692" cy="224992"/>
            </a:xfrm>
            <a:custGeom>
              <a:avLst/>
              <a:gdLst/>
              <a:ahLst/>
              <a:cxnLst/>
              <a:rect l="l" t="t" r="r" b="b"/>
              <a:pathLst>
                <a:path w="1944692" h="224992">
                  <a:moveTo>
                    <a:pt x="31455" y="0"/>
                  </a:moveTo>
                  <a:lnTo>
                    <a:pt x="1913237" y="0"/>
                  </a:lnTo>
                  <a:cubicBezTo>
                    <a:pt x="1921580" y="0"/>
                    <a:pt x="1929580" y="3314"/>
                    <a:pt x="1935479" y="9213"/>
                  </a:cubicBezTo>
                  <a:cubicBezTo>
                    <a:pt x="1941378" y="15112"/>
                    <a:pt x="1944692" y="23113"/>
                    <a:pt x="1944692" y="31455"/>
                  </a:cubicBezTo>
                  <a:lnTo>
                    <a:pt x="1944692" y="193537"/>
                  </a:lnTo>
                  <a:cubicBezTo>
                    <a:pt x="1944692" y="201879"/>
                    <a:pt x="1941378" y="209880"/>
                    <a:pt x="1935479" y="215779"/>
                  </a:cubicBezTo>
                  <a:cubicBezTo>
                    <a:pt x="1929580" y="221678"/>
                    <a:pt x="1921580" y="224992"/>
                    <a:pt x="1913237" y="224992"/>
                  </a:cubicBezTo>
                  <a:lnTo>
                    <a:pt x="31455" y="224992"/>
                  </a:lnTo>
                  <a:cubicBezTo>
                    <a:pt x="23113" y="224992"/>
                    <a:pt x="15112" y="221678"/>
                    <a:pt x="9213" y="215779"/>
                  </a:cubicBezTo>
                  <a:cubicBezTo>
                    <a:pt x="3314" y="209880"/>
                    <a:pt x="0" y="201879"/>
                    <a:pt x="0" y="193537"/>
                  </a:cubicBezTo>
                  <a:lnTo>
                    <a:pt x="0" y="31455"/>
                  </a:lnTo>
                  <a:cubicBezTo>
                    <a:pt x="0" y="23113"/>
                    <a:pt x="3314" y="15112"/>
                    <a:pt x="9213" y="9213"/>
                  </a:cubicBezTo>
                  <a:cubicBezTo>
                    <a:pt x="15112" y="3314"/>
                    <a:pt x="23113" y="0"/>
                    <a:pt x="31455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44692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15986" y="-293126"/>
            <a:ext cx="1789386" cy="178938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2407" y="1455833"/>
            <a:ext cx="581985" cy="58198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050076" y="739798"/>
            <a:ext cx="853014" cy="577804"/>
          </a:xfrm>
          <a:custGeom>
            <a:avLst/>
            <a:gdLst/>
            <a:ahLst/>
            <a:cxnLst/>
            <a:rect l="l" t="t" r="r" b="b"/>
            <a:pathLst>
              <a:path w="853014" h="577804">
                <a:moveTo>
                  <a:pt x="0" y="0"/>
                </a:moveTo>
                <a:lnTo>
                  <a:pt x="853014" y="0"/>
                </a:lnTo>
                <a:lnTo>
                  <a:pt x="853014" y="577804"/>
                </a:lnTo>
                <a:lnTo>
                  <a:pt x="0" y="57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649155" y="2577814"/>
            <a:ext cx="8410388" cy="6095687"/>
          </a:xfrm>
          <a:custGeom>
            <a:avLst/>
            <a:gdLst/>
            <a:ahLst/>
            <a:cxnLst/>
            <a:rect l="l" t="t" r="r" b="b"/>
            <a:pathLst>
              <a:path w="8410388" h="6095687">
                <a:moveTo>
                  <a:pt x="0" y="0"/>
                </a:moveTo>
                <a:lnTo>
                  <a:pt x="8410388" y="0"/>
                </a:lnTo>
                <a:lnTo>
                  <a:pt x="8410388" y="6095687"/>
                </a:lnTo>
                <a:lnTo>
                  <a:pt x="0" y="60956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731398" y="802005"/>
            <a:ext cx="666569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5 · WIRESHARK ANALYSIS (CONT.)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24324" y="1680151"/>
            <a:ext cx="7153870" cy="1065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Server &amp; Client Key Exchange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3699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34567" y="4916805"/>
            <a:ext cx="5842016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AutoNum type="arabicPeriod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Session Key: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derived from the shared secret and both random values; used to encrypt all further traffic.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7524888" cy="854266"/>
            <a:chOff x="0" y="0"/>
            <a:chExt cx="1981863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81864" cy="224992"/>
            </a:xfrm>
            <a:custGeom>
              <a:avLst/>
              <a:gdLst/>
              <a:ahLst/>
              <a:cxnLst/>
              <a:rect l="l" t="t" r="r" b="b"/>
              <a:pathLst>
                <a:path w="1981864" h="224992">
                  <a:moveTo>
                    <a:pt x="30865" y="0"/>
                  </a:moveTo>
                  <a:lnTo>
                    <a:pt x="1950998" y="0"/>
                  </a:lnTo>
                  <a:cubicBezTo>
                    <a:pt x="1968045" y="0"/>
                    <a:pt x="1981864" y="13819"/>
                    <a:pt x="1981864" y="30865"/>
                  </a:cubicBezTo>
                  <a:lnTo>
                    <a:pt x="1981864" y="194127"/>
                  </a:lnTo>
                  <a:cubicBezTo>
                    <a:pt x="1981864" y="202313"/>
                    <a:pt x="1978612" y="210163"/>
                    <a:pt x="1972823" y="215952"/>
                  </a:cubicBezTo>
                  <a:cubicBezTo>
                    <a:pt x="1967035" y="221740"/>
                    <a:pt x="1959184" y="224992"/>
                    <a:pt x="1950998" y="224992"/>
                  </a:cubicBezTo>
                  <a:lnTo>
                    <a:pt x="30865" y="224992"/>
                  </a:lnTo>
                  <a:cubicBezTo>
                    <a:pt x="22679" y="224992"/>
                    <a:pt x="14829" y="221740"/>
                    <a:pt x="9040" y="215952"/>
                  </a:cubicBezTo>
                  <a:cubicBezTo>
                    <a:pt x="3252" y="210163"/>
                    <a:pt x="0" y="202313"/>
                    <a:pt x="0" y="194127"/>
                  </a:cubicBezTo>
                  <a:lnTo>
                    <a:pt x="0" y="30865"/>
                  </a:lnTo>
                  <a:cubicBezTo>
                    <a:pt x="0" y="22679"/>
                    <a:pt x="3252" y="14829"/>
                    <a:pt x="9040" y="9040"/>
                  </a:cubicBezTo>
                  <a:cubicBezTo>
                    <a:pt x="14829" y="3252"/>
                    <a:pt x="22679" y="0"/>
                    <a:pt x="30865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81863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965427" y="7845660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7" y="0"/>
                </a:lnTo>
                <a:lnTo>
                  <a:pt x="1440977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715008" y="2819624"/>
            <a:ext cx="8003444" cy="3123925"/>
          </a:xfrm>
          <a:custGeom>
            <a:avLst/>
            <a:gdLst/>
            <a:ahLst/>
            <a:cxnLst/>
            <a:rect l="l" t="t" r="r" b="b"/>
            <a:pathLst>
              <a:path w="8003444" h="3123925">
                <a:moveTo>
                  <a:pt x="0" y="0"/>
                </a:moveTo>
                <a:lnTo>
                  <a:pt x="8003444" y="0"/>
                </a:lnTo>
                <a:lnTo>
                  <a:pt x="8003444" y="3123925"/>
                </a:lnTo>
                <a:lnTo>
                  <a:pt x="0" y="3123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715008" y="6029274"/>
            <a:ext cx="7245979" cy="3481498"/>
          </a:xfrm>
          <a:custGeom>
            <a:avLst/>
            <a:gdLst/>
            <a:ahLst/>
            <a:cxnLst/>
            <a:rect l="l" t="t" r="r" b="b"/>
            <a:pathLst>
              <a:path w="7245979" h="3481498">
                <a:moveTo>
                  <a:pt x="0" y="0"/>
                </a:moveTo>
                <a:lnTo>
                  <a:pt x="7245979" y="0"/>
                </a:lnTo>
                <a:lnTo>
                  <a:pt x="7245979" y="3481498"/>
                </a:lnTo>
                <a:lnTo>
                  <a:pt x="0" y="34814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3575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10605" y="1841285"/>
            <a:ext cx="7754091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Change Cipher Spec &amp; Finished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43720" y="872360"/>
            <a:ext cx="6624097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5 · WIRESHARK ANALYSIS (CONT.)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94576" y="3193836"/>
            <a:ext cx="6761353" cy="501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Change Cipher Spec signals that all subsequent records will be encrypted using the newly agreed session key.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Encryption begins: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from this point, both sides switch from plaintext handshake messages to encrypted records.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Finished: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the first encrypted message, verifying the handshake was not tampered with—handshake complete</a:t>
            </a: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7524888" cy="854266"/>
            <a:chOff x="0" y="0"/>
            <a:chExt cx="1981863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81864" cy="224992"/>
            </a:xfrm>
            <a:custGeom>
              <a:avLst/>
              <a:gdLst/>
              <a:ahLst/>
              <a:cxnLst/>
              <a:rect l="l" t="t" r="r" b="b"/>
              <a:pathLst>
                <a:path w="1981864" h="224992">
                  <a:moveTo>
                    <a:pt x="30865" y="0"/>
                  </a:moveTo>
                  <a:lnTo>
                    <a:pt x="1950998" y="0"/>
                  </a:lnTo>
                  <a:cubicBezTo>
                    <a:pt x="1968045" y="0"/>
                    <a:pt x="1981864" y="13819"/>
                    <a:pt x="1981864" y="30865"/>
                  </a:cubicBezTo>
                  <a:lnTo>
                    <a:pt x="1981864" y="194127"/>
                  </a:lnTo>
                  <a:cubicBezTo>
                    <a:pt x="1981864" y="202313"/>
                    <a:pt x="1978612" y="210163"/>
                    <a:pt x="1972823" y="215952"/>
                  </a:cubicBezTo>
                  <a:cubicBezTo>
                    <a:pt x="1967035" y="221740"/>
                    <a:pt x="1959184" y="224992"/>
                    <a:pt x="1950998" y="224992"/>
                  </a:cubicBezTo>
                  <a:lnTo>
                    <a:pt x="30865" y="224992"/>
                  </a:lnTo>
                  <a:cubicBezTo>
                    <a:pt x="22679" y="224992"/>
                    <a:pt x="14829" y="221740"/>
                    <a:pt x="9040" y="215952"/>
                  </a:cubicBezTo>
                  <a:cubicBezTo>
                    <a:pt x="3252" y="210163"/>
                    <a:pt x="0" y="202313"/>
                    <a:pt x="0" y="194127"/>
                  </a:cubicBezTo>
                  <a:lnTo>
                    <a:pt x="0" y="30865"/>
                  </a:lnTo>
                  <a:cubicBezTo>
                    <a:pt x="0" y="22679"/>
                    <a:pt x="3252" y="14829"/>
                    <a:pt x="9040" y="9040"/>
                  </a:cubicBezTo>
                  <a:cubicBezTo>
                    <a:pt x="14829" y="3252"/>
                    <a:pt x="22679" y="0"/>
                    <a:pt x="30865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81863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965427" y="7845660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7" y="0"/>
                </a:lnTo>
                <a:lnTo>
                  <a:pt x="1440977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523931" y="3460536"/>
            <a:ext cx="9882474" cy="4116811"/>
          </a:xfrm>
          <a:custGeom>
            <a:avLst/>
            <a:gdLst/>
            <a:ahLst/>
            <a:cxnLst/>
            <a:rect l="l" t="t" r="r" b="b"/>
            <a:pathLst>
              <a:path w="9882474" h="4116811">
                <a:moveTo>
                  <a:pt x="0" y="0"/>
                </a:moveTo>
                <a:lnTo>
                  <a:pt x="9882473" y="0"/>
                </a:lnTo>
                <a:lnTo>
                  <a:pt x="9882473" y="4116811"/>
                </a:lnTo>
                <a:lnTo>
                  <a:pt x="0" y="41168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10605" y="1841285"/>
            <a:ext cx="7754091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Application Data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3720" y="872360"/>
            <a:ext cx="6624097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PART 5 · WIRESHARK ANALYSIS (CONT.)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65007" y="2919540"/>
            <a:ext cx="5649780" cy="543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Encrypted Traffic: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Wireshark shows only opaque ciphertext — the actual content cannot be read without the session key.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Secure Communication: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This confirms the connection is fully protected for the remainder of the session.</a:t>
            </a:r>
          </a:p>
          <a:p>
            <a:pPr marL="518160" lvl="1" indent="-259080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Note: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packet lengths and timing are still visible, which is why traffic analysis is still possible even on encrypted flows.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5600" y="3127342"/>
            <a:ext cx="4633456" cy="5262633"/>
            <a:chOff x="0" y="0"/>
            <a:chExt cx="351955" cy="3997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1955" cy="399746"/>
            </a:xfrm>
            <a:custGeom>
              <a:avLst/>
              <a:gdLst/>
              <a:ahLst/>
              <a:cxnLst/>
              <a:rect l="l" t="t" r="r" b="b"/>
              <a:pathLst>
                <a:path w="351955" h="399746">
                  <a:moveTo>
                    <a:pt x="32634" y="0"/>
                  </a:moveTo>
                  <a:lnTo>
                    <a:pt x="319320" y="0"/>
                  </a:lnTo>
                  <a:cubicBezTo>
                    <a:pt x="327975" y="0"/>
                    <a:pt x="336276" y="3438"/>
                    <a:pt x="342396" y="9558"/>
                  </a:cubicBezTo>
                  <a:cubicBezTo>
                    <a:pt x="348516" y="15678"/>
                    <a:pt x="351955" y="23979"/>
                    <a:pt x="351955" y="32634"/>
                  </a:cubicBezTo>
                  <a:lnTo>
                    <a:pt x="351955" y="367112"/>
                  </a:lnTo>
                  <a:cubicBezTo>
                    <a:pt x="351955" y="385136"/>
                    <a:pt x="337344" y="399746"/>
                    <a:pt x="319320" y="399746"/>
                  </a:cubicBezTo>
                  <a:lnTo>
                    <a:pt x="32634" y="399746"/>
                  </a:lnTo>
                  <a:cubicBezTo>
                    <a:pt x="23979" y="399746"/>
                    <a:pt x="15678" y="396308"/>
                    <a:pt x="9558" y="390188"/>
                  </a:cubicBezTo>
                  <a:cubicBezTo>
                    <a:pt x="3438" y="384068"/>
                    <a:pt x="0" y="375767"/>
                    <a:pt x="0" y="367112"/>
                  </a:cubicBezTo>
                  <a:lnTo>
                    <a:pt x="0" y="32634"/>
                  </a:lnTo>
                  <a:cubicBezTo>
                    <a:pt x="0" y="14611"/>
                    <a:pt x="14611" y="0"/>
                    <a:pt x="32634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51955" cy="447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768899" y="506380"/>
            <a:ext cx="1873334" cy="1873334"/>
          </a:xfrm>
          <a:custGeom>
            <a:avLst/>
            <a:gdLst/>
            <a:ahLst/>
            <a:cxnLst/>
            <a:rect l="l" t="t" r="r" b="b"/>
            <a:pathLst>
              <a:path w="1873334" h="1873334">
                <a:moveTo>
                  <a:pt x="0" y="0"/>
                </a:moveTo>
                <a:lnTo>
                  <a:pt x="1873334" y="0"/>
                </a:lnTo>
                <a:lnTo>
                  <a:pt x="1873334" y="1873334"/>
                </a:lnTo>
                <a:lnTo>
                  <a:pt x="0" y="1873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335440" y="8464660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8" y="0"/>
                </a:lnTo>
                <a:lnTo>
                  <a:pt x="144097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6013247" y="3127342"/>
            <a:ext cx="4729001" cy="5194254"/>
            <a:chOff x="0" y="0"/>
            <a:chExt cx="359212" cy="3945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9212" cy="394552"/>
            </a:xfrm>
            <a:custGeom>
              <a:avLst/>
              <a:gdLst/>
              <a:ahLst/>
              <a:cxnLst/>
              <a:rect l="l" t="t" r="r" b="b"/>
              <a:pathLst>
                <a:path w="359212" h="394552">
                  <a:moveTo>
                    <a:pt x="31975" y="0"/>
                  </a:moveTo>
                  <a:lnTo>
                    <a:pt x="327237" y="0"/>
                  </a:lnTo>
                  <a:cubicBezTo>
                    <a:pt x="335717" y="0"/>
                    <a:pt x="343850" y="3369"/>
                    <a:pt x="349847" y="9365"/>
                  </a:cubicBezTo>
                  <a:cubicBezTo>
                    <a:pt x="355843" y="15362"/>
                    <a:pt x="359212" y="23495"/>
                    <a:pt x="359212" y="31975"/>
                  </a:cubicBezTo>
                  <a:lnTo>
                    <a:pt x="359212" y="362578"/>
                  </a:lnTo>
                  <a:cubicBezTo>
                    <a:pt x="359212" y="371058"/>
                    <a:pt x="355843" y="379191"/>
                    <a:pt x="349847" y="385187"/>
                  </a:cubicBezTo>
                  <a:cubicBezTo>
                    <a:pt x="343850" y="391184"/>
                    <a:pt x="335717" y="394552"/>
                    <a:pt x="327237" y="394552"/>
                  </a:cubicBezTo>
                  <a:lnTo>
                    <a:pt x="31975" y="394552"/>
                  </a:lnTo>
                  <a:cubicBezTo>
                    <a:pt x="23495" y="394552"/>
                    <a:pt x="15362" y="391184"/>
                    <a:pt x="9365" y="385187"/>
                  </a:cubicBezTo>
                  <a:cubicBezTo>
                    <a:pt x="3369" y="379191"/>
                    <a:pt x="0" y="371058"/>
                    <a:pt x="0" y="362578"/>
                  </a:cubicBezTo>
                  <a:lnTo>
                    <a:pt x="0" y="31975"/>
                  </a:lnTo>
                  <a:cubicBezTo>
                    <a:pt x="0" y="23495"/>
                    <a:pt x="3369" y="15362"/>
                    <a:pt x="9365" y="9365"/>
                  </a:cubicBezTo>
                  <a:cubicBezTo>
                    <a:pt x="15362" y="3369"/>
                    <a:pt x="23495" y="0"/>
                    <a:pt x="31975" y="0"/>
                  </a:cubicBezTo>
                  <a:close/>
                </a:path>
              </a:pathLst>
            </a:custGeom>
            <a:solidFill>
              <a:srgbClr val="21418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59212" cy="442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1841285"/>
            <a:ext cx="12069561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Benefits, Challenges &amp; Real-World Applications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57170" y="813220"/>
            <a:ext cx="403819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WRAP-UP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1609023" y="3127342"/>
            <a:ext cx="4729001" cy="5194254"/>
            <a:chOff x="0" y="0"/>
            <a:chExt cx="359212" cy="39455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9212" cy="394552"/>
            </a:xfrm>
            <a:custGeom>
              <a:avLst/>
              <a:gdLst/>
              <a:ahLst/>
              <a:cxnLst/>
              <a:rect l="l" t="t" r="r" b="b"/>
              <a:pathLst>
                <a:path w="359212" h="394552">
                  <a:moveTo>
                    <a:pt x="31975" y="0"/>
                  </a:moveTo>
                  <a:lnTo>
                    <a:pt x="327237" y="0"/>
                  </a:lnTo>
                  <a:cubicBezTo>
                    <a:pt x="335717" y="0"/>
                    <a:pt x="343850" y="3369"/>
                    <a:pt x="349847" y="9365"/>
                  </a:cubicBezTo>
                  <a:cubicBezTo>
                    <a:pt x="355843" y="15362"/>
                    <a:pt x="359212" y="23495"/>
                    <a:pt x="359212" y="31975"/>
                  </a:cubicBezTo>
                  <a:lnTo>
                    <a:pt x="359212" y="362578"/>
                  </a:lnTo>
                  <a:cubicBezTo>
                    <a:pt x="359212" y="371058"/>
                    <a:pt x="355843" y="379191"/>
                    <a:pt x="349847" y="385187"/>
                  </a:cubicBezTo>
                  <a:cubicBezTo>
                    <a:pt x="343850" y="391184"/>
                    <a:pt x="335717" y="394552"/>
                    <a:pt x="327237" y="394552"/>
                  </a:cubicBezTo>
                  <a:lnTo>
                    <a:pt x="31975" y="394552"/>
                  </a:lnTo>
                  <a:cubicBezTo>
                    <a:pt x="23495" y="394552"/>
                    <a:pt x="15362" y="391184"/>
                    <a:pt x="9365" y="385187"/>
                  </a:cubicBezTo>
                  <a:cubicBezTo>
                    <a:pt x="3369" y="379191"/>
                    <a:pt x="0" y="371058"/>
                    <a:pt x="0" y="362578"/>
                  </a:cubicBezTo>
                  <a:lnTo>
                    <a:pt x="0" y="31975"/>
                  </a:lnTo>
                  <a:cubicBezTo>
                    <a:pt x="0" y="23495"/>
                    <a:pt x="3369" y="15362"/>
                    <a:pt x="9365" y="9365"/>
                  </a:cubicBezTo>
                  <a:cubicBezTo>
                    <a:pt x="15362" y="3369"/>
                    <a:pt x="23495" y="0"/>
                    <a:pt x="31975" y="0"/>
                  </a:cubicBezTo>
                  <a:close/>
                </a:path>
              </a:pathLst>
            </a:custGeom>
            <a:solidFill>
              <a:srgbClr val="EEE3D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359212" cy="442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653116" y="3902160"/>
            <a:ext cx="146453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Benefits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00000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99396" y="4698450"/>
            <a:ext cx="2865865" cy="186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Confidentiality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Integrity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Authentication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388032" y="3899486"/>
            <a:ext cx="2372213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Challenges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506132" y="4698450"/>
            <a:ext cx="4028335" cy="3440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Certificate expiry</a:t>
            </a: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Weak / outdated ciphers</a:t>
            </a: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Misconfiguration issues</a:t>
            </a: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Valid certificate ≠ trustworthy site — phishing pages can hold real certs</a:t>
            </a: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Deployment risk: non-HTTPS or weak-TLS sites get browser warnings &amp; can be penalised in Google search rankings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657535" y="3899486"/>
            <a:ext cx="243591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Applications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35966" y="4682575"/>
            <a:ext cx="2865865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Online banking</a:t>
            </a: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E-commerce</a:t>
            </a: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Email</a:t>
            </a:r>
          </a:p>
          <a:p>
            <a:pPr marL="388623" lvl="1" indent="-194312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VPNs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7071" y="637083"/>
            <a:ext cx="6221284" cy="854266"/>
            <a:chOff x="0" y="0"/>
            <a:chExt cx="1638527" cy="224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8528" cy="224992"/>
            </a:xfrm>
            <a:custGeom>
              <a:avLst/>
              <a:gdLst/>
              <a:ahLst/>
              <a:cxnLst/>
              <a:rect l="l" t="t" r="r" b="b"/>
              <a:pathLst>
                <a:path w="1638528" h="224992">
                  <a:moveTo>
                    <a:pt x="37333" y="0"/>
                  </a:moveTo>
                  <a:lnTo>
                    <a:pt x="1601195" y="0"/>
                  </a:lnTo>
                  <a:cubicBezTo>
                    <a:pt x="1611096" y="0"/>
                    <a:pt x="1620592" y="3933"/>
                    <a:pt x="1627593" y="10935"/>
                  </a:cubicBezTo>
                  <a:cubicBezTo>
                    <a:pt x="1634594" y="17936"/>
                    <a:pt x="1638528" y="27431"/>
                    <a:pt x="1638528" y="37333"/>
                  </a:cubicBezTo>
                  <a:lnTo>
                    <a:pt x="1638528" y="187659"/>
                  </a:lnTo>
                  <a:cubicBezTo>
                    <a:pt x="1638528" y="208277"/>
                    <a:pt x="1621813" y="224992"/>
                    <a:pt x="1601195" y="224992"/>
                  </a:cubicBezTo>
                  <a:lnTo>
                    <a:pt x="37333" y="224992"/>
                  </a:lnTo>
                  <a:cubicBezTo>
                    <a:pt x="16714" y="224992"/>
                    <a:pt x="0" y="208277"/>
                    <a:pt x="0" y="187659"/>
                  </a:cubicBezTo>
                  <a:lnTo>
                    <a:pt x="0" y="37333"/>
                  </a:lnTo>
                  <a:cubicBezTo>
                    <a:pt x="0" y="16714"/>
                    <a:pt x="16714" y="0"/>
                    <a:pt x="37333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38527" cy="272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301770"/>
            <a:ext cx="1520756" cy="15207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05454" y="868510"/>
            <a:ext cx="700950" cy="7009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5600" y="2872554"/>
            <a:ext cx="8359729" cy="5517421"/>
            <a:chOff x="0" y="0"/>
            <a:chExt cx="635000" cy="419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18088" y="0"/>
                  </a:moveTo>
                  <a:lnTo>
                    <a:pt x="616912" y="0"/>
                  </a:lnTo>
                  <a:cubicBezTo>
                    <a:pt x="626902" y="0"/>
                    <a:pt x="635000" y="8098"/>
                    <a:pt x="635000" y="18088"/>
                  </a:cubicBezTo>
                  <a:lnTo>
                    <a:pt x="635000" y="401012"/>
                  </a:lnTo>
                  <a:cubicBezTo>
                    <a:pt x="635000" y="411002"/>
                    <a:pt x="626902" y="419100"/>
                    <a:pt x="616912" y="419100"/>
                  </a:cubicBezTo>
                  <a:lnTo>
                    <a:pt x="18088" y="419100"/>
                  </a:lnTo>
                  <a:cubicBezTo>
                    <a:pt x="8098" y="419100"/>
                    <a:pt x="0" y="411002"/>
                    <a:pt x="0" y="401012"/>
                  </a:cubicBezTo>
                  <a:lnTo>
                    <a:pt x="0" y="18088"/>
                  </a:lnTo>
                  <a:cubicBezTo>
                    <a:pt x="0" y="8098"/>
                    <a:pt x="8098" y="0"/>
                    <a:pt x="18088" y="0"/>
                  </a:cubicBezTo>
                  <a:close/>
                </a:path>
              </a:pathLst>
            </a:custGeom>
            <a:solidFill>
              <a:srgbClr val="D7E0E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-646798" y="8047520"/>
            <a:ext cx="1804458" cy="1620731"/>
          </a:xfrm>
          <a:custGeom>
            <a:avLst/>
            <a:gdLst/>
            <a:ahLst/>
            <a:cxnLst/>
            <a:rect l="l" t="t" r="r" b="b"/>
            <a:pathLst>
              <a:path w="1804458" h="1620731">
                <a:moveTo>
                  <a:pt x="0" y="0"/>
                </a:moveTo>
                <a:lnTo>
                  <a:pt x="1804458" y="0"/>
                </a:lnTo>
                <a:lnTo>
                  <a:pt x="180445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335440" y="8464660"/>
            <a:ext cx="1440977" cy="1620731"/>
          </a:xfrm>
          <a:custGeom>
            <a:avLst/>
            <a:gdLst/>
            <a:ahLst/>
            <a:cxnLst/>
            <a:rect l="l" t="t" r="r" b="b"/>
            <a:pathLst>
              <a:path w="1440977" h="1620731">
                <a:moveTo>
                  <a:pt x="0" y="0"/>
                </a:moveTo>
                <a:lnTo>
                  <a:pt x="1440978" y="0"/>
                </a:lnTo>
                <a:lnTo>
                  <a:pt x="1440978" y="1620731"/>
                </a:lnTo>
                <a:lnTo>
                  <a:pt x="0" y="162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9144000" y="2918294"/>
            <a:ext cx="8359729" cy="5517421"/>
            <a:chOff x="0" y="0"/>
            <a:chExt cx="635000" cy="419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18088" y="0"/>
                  </a:moveTo>
                  <a:lnTo>
                    <a:pt x="616912" y="0"/>
                  </a:lnTo>
                  <a:cubicBezTo>
                    <a:pt x="626902" y="0"/>
                    <a:pt x="635000" y="8098"/>
                    <a:pt x="635000" y="18088"/>
                  </a:cubicBezTo>
                  <a:lnTo>
                    <a:pt x="635000" y="401012"/>
                  </a:lnTo>
                  <a:cubicBezTo>
                    <a:pt x="635000" y="411002"/>
                    <a:pt x="626902" y="419100"/>
                    <a:pt x="616912" y="419100"/>
                  </a:cubicBezTo>
                  <a:lnTo>
                    <a:pt x="18088" y="419100"/>
                  </a:lnTo>
                  <a:cubicBezTo>
                    <a:pt x="8098" y="419100"/>
                    <a:pt x="0" y="411002"/>
                    <a:pt x="0" y="401012"/>
                  </a:cubicBezTo>
                  <a:lnTo>
                    <a:pt x="0" y="18088"/>
                  </a:lnTo>
                  <a:cubicBezTo>
                    <a:pt x="0" y="8098"/>
                    <a:pt x="8098" y="0"/>
                    <a:pt x="18088" y="0"/>
                  </a:cubicBezTo>
                  <a:close/>
                </a:path>
              </a:pathLst>
            </a:custGeom>
            <a:solidFill>
              <a:srgbClr val="807B7C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1841285"/>
            <a:ext cx="6257212" cy="140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3700" spc="-203">
                <a:solidFill>
                  <a:srgbClr val="231F2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 &amp; References</a:t>
            </a:r>
          </a:p>
          <a:p>
            <a:pPr algn="l">
              <a:lnSpc>
                <a:spcPts val="6800"/>
              </a:lnSpc>
            </a:pPr>
            <a:endParaRPr lang="en-US" sz="3700" spc="-203">
              <a:solidFill>
                <a:srgbClr val="231F2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57170" y="813220"/>
            <a:ext cx="4038191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WRAP-UP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FFFFFF"/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527779" y="3308136"/>
            <a:ext cx="2967583" cy="60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0"/>
              </a:lnSpc>
              <a:spcBef>
                <a:spcPct val="0"/>
              </a:spcBef>
            </a:pPr>
            <a:r>
              <a:rPr lang="en-US" sz="3521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Conclusion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7660" y="4341798"/>
            <a:ext cx="6750126" cy="281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3" lvl="1" indent="-194312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SSL/TLS secures internet communication through encryption, authentication and integrity checks.</a:t>
            </a:r>
          </a:p>
          <a:p>
            <a:pPr marL="388623" lvl="1" indent="-194312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handshake establishes trust and a shared session key before any application data is sent.</a:t>
            </a:r>
          </a:p>
          <a:p>
            <a:pPr marL="388623" lvl="1" indent="-194312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Wireshark analysis confirms the handshake steps and shows that data is unreadable once encrypted.</a:t>
            </a:r>
          </a:p>
          <a:p>
            <a:pPr marL="388623" lvl="1" indent="-194312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TLS is essential to protecting users on the modern web — from banking to everyday browsing.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690536" y="3446019"/>
            <a:ext cx="2900202" cy="57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0"/>
              </a:lnSpc>
              <a:spcBef>
                <a:spcPct val="0"/>
              </a:spcBef>
            </a:pPr>
            <a:r>
              <a:rPr lang="en-US" sz="3421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References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92329" y="4341798"/>
            <a:ext cx="6750126" cy="3578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4" lvl="1" indent="-172722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Rescorla, E. (2018) RFC 8446: The TLS Protocol Version 1.3. IETF.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Dierks, T. &amp; Rescorla, E. (2008) RFC 5246: The TLS Protocol Version 1.2. IETF.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Wireshark Foundation (2024) Wireshark User’s Guide. wireshark.org.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Cloudflare (2023) What Happens in a TLS Handshake? Cloudflare Learning Center.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DigiCert (2023) What Is a Digital Certificate &amp; How Does It Work? DigiCert Inc.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Mozilla (2023) Public Key Infrastructure (PKI). MDN Web Docs.</a:t>
            </a:r>
          </a:p>
          <a:p>
            <a:pPr marL="345444" lvl="1" indent="-172722" algn="l">
              <a:lnSpc>
                <a:spcPts val="2240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Google Search Central (2023) HTTPS as a Ranking Signal. Google LLC.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endParaRPr lang="en-US" sz="1600">
              <a:solidFill>
                <a:srgbClr val="FFFFFF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26312" y="4147043"/>
            <a:ext cx="5265184" cy="177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 so much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-259558" y="1713077"/>
            <a:ext cx="9035514" cy="6934757"/>
          </a:xfrm>
          <a:custGeom>
            <a:avLst/>
            <a:gdLst/>
            <a:ahLst/>
            <a:cxnLst/>
            <a:rect l="l" t="t" r="r" b="b"/>
            <a:pathLst>
              <a:path w="9035514" h="6934757">
                <a:moveTo>
                  <a:pt x="9035514" y="0"/>
                </a:moveTo>
                <a:lnTo>
                  <a:pt x="0" y="0"/>
                </a:lnTo>
                <a:lnTo>
                  <a:pt x="0" y="6934757"/>
                </a:lnTo>
                <a:lnTo>
                  <a:pt x="9035514" y="6934757"/>
                </a:lnTo>
                <a:lnTo>
                  <a:pt x="9035514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219588" y="601567"/>
            <a:ext cx="7574845" cy="1086605"/>
            <a:chOff x="0" y="0"/>
            <a:chExt cx="1995021" cy="2861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5021" cy="286184"/>
            </a:xfrm>
            <a:custGeom>
              <a:avLst/>
              <a:gdLst/>
              <a:ahLst/>
              <a:cxnLst/>
              <a:rect l="l" t="t" r="r" b="b"/>
              <a:pathLst>
                <a:path w="1995021" h="286184">
                  <a:moveTo>
                    <a:pt x="30662" y="0"/>
                  </a:moveTo>
                  <a:lnTo>
                    <a:pt x="1964359" y="0"/>
                  </a:lnTo>
                  <a:cubicBezTo>
                    <a:pt x="1972491" y="0"/>
                    <a:pt x="1980290" y="3230"/>
                    <a:pt x="1986040" y="8981"/>
                  </a:cubicBezTo>
                  <a:cubicBezTo>
                    <a:pt x="1991790" y="14731"/>
                    <a:pt x="1995021" y="22530"/>
                    <a:pt x="1995021" y="30662"/>
                  </a:cubicBezTo>
                  <a:lnTo>
                    <a:pt x="1995021" y="255522"/>
                  </a:lnTo>
                  <a:cubicBezTo>
                    <a:pt x="1995021" y="263654"/>
                    <a:pt x="1991790" y="271453"/>
                    <a:pt x="1986040" y="277204"/>
                  </a:cubicBezTo>
                  <a:cubicBezTo>
                    <a:pt x="1980290" y="282954"/>
                    <a:pt x="1972491" y="286184"/>
                    <a:pt x="1964359" y="286184"/>
                  </a:cubicBezTo>
                  <a:lnTo>
                    <a:pt x="30662" y="286184"/>
                  </a:lnTo>
                  <a:cubicBezTo>
                    <a:pt x="22530" y="286184"/>
                    <a:pt x="14731" y="282954"/>
                    <a:pt x="8981" y="277204"/>
                  </a:cubicBezTo>
                  <a:cubicBezTo>
                    <a:pt x="3230" y="271453"/>
                    <a:pt x="0" y="263654"/>
                    <a:pt x="0" y="255522"/>
                  </a:cubicBezTo>
                  <a:lnTo>
                    <a:pt x="0" y="30662"/>
                  </a:lnTo>
                  <a:cubicBezTo>
                    <a:pt x="0" y="22530"/>
                    <a:pt x="3230" y="14731"/>
                    <a:pt x="8981" y="8981"/>
                  </a:cubicBezTo>
                  <a:cubicBezTo>
                    <a:pt x="14731" y="3230"/>
                    <a:pt x="22530" y="0"/>
                    <a:pt x="30662" y="0"/>
                  </a:cubicBezTo>
                  <a:close/>
                </a:path>
              </a:pathLst>
            </a:custGeom>
            <a:solidFill>
              <a:srgbClr val="2D3DA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995021" cy="333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838255" y="981075"/>
            <a:ext cx="550322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CMP301 Computer Networking 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8327672" y="849630"/>
            <a:ext cx="1978733" cy="1726894"/>
          </a:xfrm>
          <a:custGeom>
            <a:avLst/>
            <a:gdLst/>
            <a:ahLst/>
            <a:cxnLst/>
            <a:rect l="l" t="t" r="r" b="b"/>
            <a:pathLst>
              <a:path w="1978733" h="1726894">
                <a:moveTo>
                  <a:pt x="1978733" y="0"/>
                </a:moveTo>
                <a:lnTo>
                  <a:pt x="0" y="0"/>
                </a:lnTo>
                <a:lnTo>
                  <a:pt x="0" y="1726894"/>
                </a:lnTo>
                <a:lnTo>
                  <a:pt x="1978733" y="1726894"/>
                </a:lnTo>
                <a:lnTo>
                  <a:pt x="197873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46798" y="9624445"/>
            <a:ext cx="19581596" cy="921894"/>
            <a:chOff x="0" y="0"/>
            <a:chExt cx="5157293" cy="2428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57293" cy="242803"/>
            </a:xfrm>
            <a:custGeom>
              <a:avLst/>
              <a:gdLst/>
              <a:ahLst/>
              <a:cxnLst/>
              <a:rect l="l" t="t" r="r" b="b"/>
              <a:pathLst>
                <a:path w="5157293" h="242803">
                  <a:moveTo>
                    <a:pt x="0" y="0"/>
                  </a:moveTo>
                  <a:lnTo>
                    <a:pt x="5157293" y="0"/>
                  </a:lnTo>
                  <a:lnTo>
                    <a:pt x="5157293" y="242803"/>
                  </a:lnTo>
                  <a:lnTo>
                    <a:pt x="0" y="242803"/>
                  </a:lnTo>
                  <a:close/>
                </a:path>
              </a:pathLst>
            </a:custGeom>
            <a:solidFill>
              <a:srgbClr val="FDBD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157293" cy="290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369228" y="369228"/>
            <a:ext cx="1318945" cy="1318945"/>
          </a:xfrm>
          <a:custGeom>
            <a:avLst/>
            <a:gdLst/>
            <a:ahLst/>
            <a:cxnLst/>
            <a:rect l="l" t="t" r="r" b="b"/>
            <a:pathLst>
              <a:path w="1318945" h="1318945">
                <a:moveTo>
                  <a:pt x="1318944" y="0"/>
                </a:moveTo>
                <a:lnTo>
                  <a:pt x="0" y="0"/>
                </a:lnTo>
                <a:lnTo>
                  <a:pt x="0" y="1318944"/>
                </a:lnTo>
                <a:lnTo>
                  <a:pt x="1318944" y="1318944"/>
                </a:lnTo>
                <a:lnTo>
                  <a:pt x="131894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-10800000">
            <a:off x="17341476" y="7415998"/>
            <a:ext cx="1636136" cy="163613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16266663" y="7745164"/>
            <a:ext cx="811031" cy="81103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1921</Words>
  <Application>Microsoft Office PowerPoint</Application>
  <PresentationFormat>Custom</PresentationFormat>
  <Paragraphs>249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TT Firs Neue Bold</vt:lpstr>
      <vt:lpstr>TT Firs Neue</vt:lpstr>
      <vt:lpstr>Archivo Black</vt:lpstr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and Gray Modern Networking Presentation</dc:title>
  <dc:creator>hp</dc:creator>
  <cp:lastModifiedBy>Md. Rukonuzzaman Topu</cp:lastModifiedBy>
  <cp:revision>3</cp:revision>
  <dcterms:created xsi:type="dcterms:W3CDTF">2006-08-16T00:00:00Z</dcterms:created>
  <dcterms:modified xsi:type="dcterms:W3CDTF">2026-07-28T20:53:19Z</dcterms:modified>
  <dc:identifier>DAHQjla5Beo</dc:identifier>
</cp:coreProperties>
</file>