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Rwx1DNUbGzcQBmFLPcL2rIijC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606868" y="304146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4 · WIRESHARK ANALYSIS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4"/>
          <p:cNvSpPr/>
          <p:nvPr/>
        </p:nvSpPr>
        <p:spPr>
          <a:xfrm>
            <a:off x="548640" y="65836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lang="en-US" sz="3000" b="1" i="0" u="none" strike="noStrike" cap="none" dirty="0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Introduction to Wireshark</a:t>
            </a:r>
            <a:endParaRPr lang="en-US"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4"/>
          <p:cNvSpPr/>
          <p:nvPr/>
        </p:nvSpPr>
        <p:spPr>
          <a:xfrm>
            <a:off x="1261872" y="1508760"/>
            <a:ext cx="1035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What is Wireshark?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4"/>
          <p:cNvSpPr/>
          <p:nvPr/>
        </p:nvSpPr>
        <p:spPr>
          <a:xfrm>
            <a:off x="1261872" y="1801368"/>
            <a:ext cx="10350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 free, open-source network protocol </a:t>
            </a:r>
            <a:r>
              <a:rPr lang="en-US" sz="1150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analyzer</a:t>
            </a:r>
            <a:r>
              <a:rPr lang="en-US" sz="115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 used to capture and inspect traffic in real time.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/>
          <p:nvPr/>
        </p:nvSpPr>
        <p:spPr>
          <a:xfrm>
            <a:off x="1261872" y="2560320"/>
            <a:ext cx="1035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Packet Capture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4"/>
          <p:cNvSpPr/>
          <p:nvPr/>
        </p:nvSpPr>
        <p:spPr>
          <a:xfrm>
            <a:off x="1261872" y="2852928"/>
            <a:ext cx="10350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Wireshark listens on a network interface and records every packet, including its full header and payload.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1261872" y="3611880"/>
            <a:ext cx="1035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Packet Analysis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4"/>
          <p:cNvSpPr/>
          <p:nvPr/>
        </p:nvSpPr>
        <p:spPr>
          <a:xfrm>
            <a:off x="1261872" y="3904488"/>
            <a:ext cx="10350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Captured packets are decoded layer-by-layer against the OSI model, from Ethernet up to the Application layer.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4"/>
          <p:cNvSpPr/>
          <p:nvPr/>
        </p:nvSpPr>
        <p:spPr>
          <a:xfrm>
            <a:off x="1261872" y="4663440"/>
            <a:ext cx="10350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500"/>
              <a:buFont typeface="Calibri"/>
              <a:buNone/>
            </a:pPr>
            <a:r>
              <a:rPr lang="en-US" sz="1500" b="1" i="0" u="none" strike="noStrike" cap="none" dirty="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TLS Filter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4"/>
          <p:cNvSpPr/>
          <p:nvPr/>
        </p:nvSpPr>
        <p:spPr>
          <a:xfrm>
            <a:off x="1261872" y="4956048"/>
            <a:ext cx="103509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The display filter tls (or ssl) isolates only TLS handshake and application-data records for focused analysis.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4"/>
          <p:cNvSpPr/>
          <p:nvPr/>
        </p:nvSpPr>
        <p:spPr>
          <a:xfrm>
            <a:off x="11475720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4" title="Wireshark_icon_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75" y="1595725"/>
            <a:ext cx="457050" cy="502799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pic>
      <p:pic>
        <p:nvPicPr>
          <p:cNvPr id="3" name="Picture 2" descr="A red and blue dot logo&#10;&#10;Description automatically generated">
            <a:extLst>
              <a:ext uri="{FF2B5EF4-FFF2-40B4-BE49-F238E27FC236}">
                <a16:creationId xmlns:a16="http://schemas.microsoft.com/office/drawing/2014/main" id="{7D8DD5DF-37CB-6BF8-5F8A-6C13E7FD6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82" y="2532768"/>
            <a:ext cx="598858" cy="640200"/>
          </a:xfrm>
          <a:prstGeom prst="rect">
            <a:avLst/>
          </a:prstGeom>
        </p:spPr>
      </p:pic>
      <p:pic>
        <p:nvPicPr>
          <p:cNvPr id="5" name="Picture 4" descr="A magnifying glass and graph with gears&#10;&#10;Description automatically generated">
            <a:extLst>
              <a:ext uri="{FF2B5EF4-FFF2-40B4-BE49-F238E27FC236}">
                <a16:creationId xmlns:a16="http://schemas.microsoft.com/office/drawing/2014/main" id="{15B6A105-7744-CB30-6A2E-4FE1BE2A5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593472"/>
            <a:ext cx="969264" cy="533400"/>
          </a:xfrm>
          <a:prstGeom prst="rect">
            <a:avLst/>
          </a:prstGeom>
        </p:spPr>
      </p:pic>
      <p:pic>
        <p:nvPicPr>
          <p:cNvPr id="7" name="Picture 6" descr="A black shield with text&#10;&#10;Description automatically generated">
            <a:extLst>
              <a:ext uri="{FF2B5EF4-FFF2-40B4-BE49-F238E27FC236}">
                <a16:creationId xmlns:a16="http://schemas.microsoft.com/office/drawing/2014/main" id="{EF2D1DD4-3F74-825D-17A2-8B653DAAE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811" y="4706062"/>
            <a:ext cx="598858" cy="556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1B6F58-60B0-576E-3B53-22768124AE88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542961-1B68-D677-839C-BAEC611B877F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F858F-75E0-9ECD-13AD-C47F31486BD5}"/>
              </a:ext>
            </a:extLst>
          </p:cNvPr>
          <p:cNvSpPr txBox="1"/>
          <p:nvPr/>
        </p:nvSpPr>
        <p:spPr>
          <a:xfrm>
            <a:off x="3048000" y="32791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4" name="Picture 33" descr="A blue fin with white text&#10;&#10;Description automatically generated">
            <a:extLst>
              <a:ext uri="{FF2B5EF4-FFF2-40B4-BE49-F238E27FC236}">
                <a16:creationId xmlns:a16="http://schemas.microsoft.com/office/drawing/2014/main" id="{21A2EAE0-6BFA-356C-EC59-AE21761A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46556">
            <a:off x="8419876" y="1078384"/>
            <a:ext cx="3089534" cy="30895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4 · WIRESHARK ANALYSIS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5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Client Hello Analysis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5"/>
          <p:cNvSpPr/>
          <p:nvPr/>
        </p:nvSpPr>
        <p:spPr>
          <a:xfrm>
            <a:off x="3273552" y="320040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15" descr="icons/scan_FFFF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7926" y="3264774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5"/>
          <p:cNvSpPr/>
          <p:nvPr/>
        </p:nvSpPr>
        <p:spPr>
          <a:xfrm>
            <a:off x="7341750" y="1337120"/>
            <a:ext cx="4271100" cy="5058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ea typeface="Calibri"/>
                <a:cs typeface="Calibri"/>
                <a:sym typeface="Calibri"/>
              </a:rPr>
              <a:t>TLS Version: highest protocol version the client supports.</a:t>
            </a:r>
            <a:endParaRPr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aramond" panose="02020404030301010803" pitchFamily="18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ea typeface="Calibri"/>
                <a:cs typeface="Calibri"/>
                <a:sym typeface="Calibri"/>
              </a:rPr>
              <a:t>Random: 32-byte client-generated value used in later key derivation.</a:t>
            </a:r>
            <a:endParaRPr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aramond" panose="02020404030301010803" pitchFamily="18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ea typeface="Calibri"/>
                <a:cs typeface="Calibri"/>
                <a:sym typeface="Calibri"/>
              </a:rPr>
              <a:t>Cipher Suites: the ordered list of encryption combinations the client offers.</a:t>
            </a:r>
            <a:endParaRPr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aramond" panose="02020404030301010803" pitchFamily="18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Garamond" panose="02020404030301010803" pitchFamily="18" charset="0"/>
                <a:ea typeface="Calibri"/>
                <a:cs typeface="Calibri"/>
                <a:sym typeface="Calibri"/>
              </a:rPr>
              <a:t>Extensions: e.g. SNI (requested hostname), supported groups, ALPN.</a:t>
            </a:r>
            <a:endParaRPr sz="20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aramond" panose="02020404030301010803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98450"/>
            <a:ext cx="7146525" cy="505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black shield with text&#10;&#10;Description automatically generated">
            <a:extLst>
              <a:ext uri="{FF2B5EF4-FFF2-40B4-BE49-F238E27FC236}">
                <a16:creationId xmlns:a16="http://schemas.microsoft.com/office/drawing/2014/main" id="{A79FD859-6C0C-D323-342C-712F186EE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51445">
            <a:off x="9821594" y="4589316"/>
            <a:ext cx="2501393" cy="2064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4 · WIRESHARK ANALYSIS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6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Server Hello Analysis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7863850" y="1691650"/>
            <a:ext cx="3822900" cy="47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v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Selected TLS Version: the protocol version the server has chosen to use.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</a:pP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v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Selected Cipher Suite: the single suite chosen from the client's offered list.</a:t>
            </a:r>
          </a:p>
          <a:p>
            <a:pPr marR="0" lvl="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</a:pP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v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Session ID: identifier that may allow the session to be resumed later.</a:t>
            </a: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v"/>
            </a:pP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v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Server Random: combined with the client random to derive session keys.</a:t>
            </a: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25" y="1478275"/>
            <a:ext cx="7127699" cy="49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red and blue dot logo&#10;&#10;Description automatically generated">
            <a:extLst>
              <a:ext uri="{FF2B5EF4-FFF2-40B4-BE49-F238E27FC236}">
                <a16:creationId xmlns:a16="http://schemas.microsoft.com/office/drawing/2014/main" id="{50C75D5A-D63D-5B28-1B04-89E5B7B4C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689561">
            <a:off x="10225916" y="-939625"/>
            <a:ext cx="2921666" cy="29216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4 · WIRESHARK ANALYSIS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Certificate Analysis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/>
          <p:nvPr/>
        </p:nvSpPr>
        <p:spPr>
          <a:xfrm>
            <a:off x="6858000" y="1719072"/>
            <a:ext cx="475488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Ø"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Subject: the entity </a:t>
            </a:r>
            <a:r>
              <a:rPr lang="en-US" sz="2000" b="1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(domain/organization)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 the certificate was issued to.</a:t>
            </a:r>
            <a:endParaRPr sz="2000" b="1" i="0" u="none" strike="noStrike" cap="none" dirty="0">
              <a:solidFill>
                <a:schemeClr val="tx1"/>
              </a:solidFill>
              <a:latin typeface="Bahnschrift Light SemiCondensed" panose="020B0502040204020203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Ø"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Issuer: the Certificate Authority that signed the certificate.</a:t>
            </a:r>
            <a:endParaRPr sz="2000" b="1" i="0" u="none" strike="noStrike" cap="none" dirty="0">
              <a:solidFill>
                <a:schemeClr val="tx1"/>
              </a:solidFill>
              <a:latin typeface="Bahnschrift Light SemiCondensed" panose="020B0502040204020203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Ø"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Public Key: the key bound to this certificate, used for authentication.</a:t>
            </a:r>
            <a:endParaRPr sz="2000" b="1" i="0" u="none" strike="noStrike" cap="none" dirty="0">
              <a:solidFill>
                <a:schemeClr val="tx1"/>
              </a:solidFill>
              <a:latin typeface="Bahnschrift Light SemiCondensed" panose="020B0502040204020203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Ø"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Validity: the certificate's </a:t>
            </a:r>
            <a:r>
              <a:rPr lang="en-US" sz="2000" b="1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not-before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 / </a:t>
            </a:r>
            <a:r>
              <a:rPr lang="en-US" sz="2000" b="1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not-after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 date range.</a:t>
            </a:r>
            <a:endParaRPr sz="2000" b="1" i="0" u="none" strike="noStrike" cap="none" dirty="0">
              <a:solidFill>
                <a:schemeClr val="tx1"/>
              </a:solidFill>
              <a:latin typeface="Bahnschrift Light SemiCondensed" panose="020B0502040204020203" pitchFamily="34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Ø"/>
            </a:pP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Signature Algorithm: </a:t>
            </a:r>
            <a:r>
              <a:rPr lang="en-US" sz="2000" b="1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e.g.,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Bahnschrift Light SemiCondensed" panose="020B0502040204020203" pitchFamily="34" charset="0"/>
                <a:ea typeface="Calibri"/>
                <a:cs typeface="Calibri"/>
                <a:sym typeface="Calibri"/>
              </a:rPr>
              <a:t> SHA256withRSA, used to sign the certificate.</a:t>
            </a:r>
            <a:endParaRPr sz="2000" b="1" i="0" u="none" strike="noStrike" cap="none" dirty="0">
              <a:solidFill>
                <a:schemeClr val="tx1"/>
              </a:solidFill>
              <a:latin typeface="Bahnschrift Light SemiCondensed" panose="020B0502040204020203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0848"/>
            <a:ext cx="6257567" cy="525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magnifying glass and graph with gears&#10;&#10;Description automatically generated">
            <a:extLst>
              <a:ext uri="{FF2B5EF4-FFF2-40B4-BE49-F238E27FC236}">
                <a16:creationId xmlns:a16="http://schemas.microsoft.com/office/drawing/2014/main" id="{14AA9D28-492E-B7B0-D57E-C22E19188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357017">
            <a:off x="9964347" y="5177898"/>
            <a:ext cx="2369601" cy="1520952"/>
          </a:xfrm>
          <a:prstGeom prst="rect">
            <a:avLst/>
          </a:prstGeom>
        </p:spPr>
      </p:pic>
      <p:pic>
        <p:nvPicPr>
          <p:cNvPr id="5" name="Picture 4" descr="A blue fin with white text&#10;&#10;Description automatically generated">
            <a:extLst>
              <a:ext uri="{FF2B5EF4-FFF2-40B4-BE49-F238E27FC236}">
                <a16:creationId xmlns:a16="http://schemas.microsoft.com/office/drawing/2014/main" id="{E8321868-F098-7EBC-1CE8-A510AC408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073536">
            <a:off x="9937562" y="-988130"/>
            <a:ext cx="2378418" cy="2724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5 · WIRESHARK ANALYSIS (CONT.)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8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Server &amp; Client Key Exchange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8"/>
          <p:cNvSpPr/>
          <p:nvPr/>
        </p:nvSpPr>
        <p:spPr>
          <a:xfrm>
            <a:off x="8101600" y="1691650"/>
            <a:ext cx="3511500" cy="47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ü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Key Exchange: the mechanism (e.g. ECDHE) used to agree on secret material without sending it in plaintext.</a:t>
            </a: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ü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Shared Secret: a value both sides compute independently that never travels across the network.</a:t>
            </a: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ü"/>
            </a:pPr>
            <a:r>
              <a:rPr lang="en-US" sz="1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Session Key: derived from the shared secret and both random values; used to encrypt all further traffic.</a:t>
            </a:r>
            <a:endParaRPr sz="1800" b="1" i="0" u="none" strike="noStrike" cap="none" dirty="0">
              <a:solidFill>
                <a:schemeClr val="accent1">
                  <a:lumMod val="75000"/>
                </a:schemeClr>
              </a:solidFill>
              <a:latin typeface="Book Antiqua" panose="02040602050305030304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8675"/>
            <a:ext cx="7796801" cy="2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8"/>
          <p:cNvSpPr txBox="1"/>
          <p:nvPr/>
        </p:nvSpPr>
        <p:spPr>
          <a:xfrm rot="-580" flipH="1">
            <a:off x="2007275" y="3757925"/>
            <a:ext cx="355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Figure: Server Key Exchange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77" name="Google Shape;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310925"/>
            <a:ext cx="6800850" cy="19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/>
        </p:nvSpPr>
        <p:spPr>
          <a:xfrm>
            <a:off x="2130350" y="6348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Figure: Client Key Exchange </a:t>
            </a:r>
            <a:endParaRPr b="1"/>
          </a:p>
        </p:txBody>
      </p:sp>
      <p:pic>
        <p:nvPicPr>
          <p:cNvPr id="5" name="Picture 4" descr="A black and white icon&#10;&#10;Description automatically generated">
            <a:extLst>
              <a:ext uri="{FF2B5EF4-FFF2-40B4-BE49-F238E27FC236}">
                <a16:creationId xmlns:a16="http://schemas.microsoft.com/office/drawing/2014/main" id="{1009FBB1-C001-8AD2-1381-14BCAC4BD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87373">
            <a:off x="10373118" y="-191241"/>
            <a:ext cx="1757339" cy="19034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5 · WIRESHARK ANALYSIS (CONT.)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Change Cipher Spec &amp; Finished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9"/>
          <p:cNvSpPr/>
          <p:nvPr/>
        </p:nvSpPr>
        <p:spPr>
          <a:xfrm>
            <a:off x="7130143" y="1691650"/>
            <a:ext cx="4482832" cy="47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Change Cipher Spec signals that all subsequent records will be encrypted using the newly agreed session key.</a:t>
            </a: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Encryption begins: from this point, both sides switch from plaintext handshake messages to encrypted records.</a:t>
            </a: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Wingdings" panose="05000000000000000000" pitchFamily="2" charset="2"/>
              <a:buChar char="q"/>
            </a:pPr>
            <a:r>
              <a:rPr lang="en-US" sz="2000" b="1" i="0" u="none" strike="noStrike" cap="none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Finished: the first encrypted message, verifying the handshake was not tampered with — handshake complete.</a:t>
            </a:r>
          </a:p>
        </p:txBody>
      </p:sp>
      <p:sp>
        <p:nvSpPr>
          <p:cNvPr id="87" name="Google Shape;87;p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450848"/>
            <a:ext cx="566737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00" y="3813050"/>
            <a:ext cx="5188349" cy="258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couple of keys with arrows&#10;&#10;Description automatically generated with medium confidence">
            <a:extLst>
              <a:ext uri="{FF2B5EF4-FFF2-40B4-BE49-F238E27FC236}">
                <a16:creationId xmlns:a16="http://schemas.microsoft.com/office/drawing/2014/main" id="{D108A6EC-DFAC-32F2-84F2-7CB4D04A1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497" y="1"/>
            <a:ext cx="2758132" cy="1664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444</Words>
  <Application>Microsoft Office PowerPoint</Application>
  <PresentationFormat>Widescreen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Bahnschrift Light SemiCondensed</vt:lpstr>
      <vt:lpstr>Book Antiqua</vt:lpstr>
      <vt:lpstr>Calibri</vt:lpstr>
      <vt:lpstr>Cambria</vt:lpstr>
      <vt:lpstr>Garamond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Md. Rukonuzzaman Topu</cp:lastModifiedBy>
  <cp:revision>2</cp:revision>
  <dcterms:created xsi:type="dcterms:W3CDTF">2026-07-23T20:44:42Z</dcterms:created>
  <dcterms:modified xsi:type="dcterms:W3CDTF">2026-07-26T22:10:09Z</dcterms:modified>
</cp:coreProperties>
</file>